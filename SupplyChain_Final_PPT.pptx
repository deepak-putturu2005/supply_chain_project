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19"/>
  </p:notes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9F738F-52EC-4DBD-B8CE-23B03758D24D}" v="54" dt="2026-08-19T13:55:24.1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50565-BF70-4A9D-A59F-7DE4B4C91911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147A30-0120-41FF-9486-ECBFE0E1ECD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0244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147A30-0120-41FF-9486-ECBFE0E1ECD7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61688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C9B1B-21C6-843A-4593-8B77C2EA0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DB20DB-819B-6269-9972-56CA1417C3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B0123D-FFE5-16A4-95C3-28E268220B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572919-0B75-C5B3-7875-CAA0DC34EB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147A30-0120-41FF-9486-ECBFE0E1ECD7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9396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C25BD-F9DA-5295-B1BC-D2DD7B68D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FFF90A-42F2-CD89-E4FA-6EE48A0DFE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0EC258-A4D5-7DF0-3C24-2748076671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7669B8-944E-0E3C-60AB-2F1B1AC262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147A30-0120-41FF-9486-ECBFE0E1ECD7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83566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F6BE3-7A53-FB5C-BC8C-2D386F729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F1BA23-07FB-FB22-FD0F-8B05801E2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294DAE-711F-5DE6-37A8-D7B386D83F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FE270-C15F-A867-3AEA-EEB527122D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147A30-0120-41FF-9486-ECBFE0E1ECD7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14995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6E263-E3DD-7E11-D313-1313BD621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E50902-1413-5E77-FA05-CB1826FECB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70FA31-33AC-FD36-B3A0-388C6C8B0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2FDE87-0237-1466-11A3-F825819BE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147A30-0120-41FF-9486-ECBFE0E1ECD7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2435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Autofit/>
          </a:bodyPr>
          <a:lstStyle>
            <a:lvl1pPr algn="l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854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3516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891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5181600" cy="42519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672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852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80"/>
            <a:ext cx="5157787" cy="32644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852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80"/>
            <a:ext cx="5183188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4032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</p:spPr>
        <p:txBody>
          <a:bodyPr>
            <a:normAutofit/>
          </a:bodyPr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3974206" y="5126892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251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42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sX0" fmla="*/ 0 w 4480560"/>
              <a:gd name="csY0" fmla="*/ 0 h 27432"/>
              <a:gd name="csX1" fmla="*/ 595274 w 4480560"/>
              <a:gd name="csY1" fmla="*/ 0 h 27432"/>
              <a:gd name="csX2" fmla="*/ 1100938 w 4480560"/>
              <a:gd name="csY2" fmla="*/ 0 h 27432"/>
              <a:gd name="csX3" fmla="*/ 1651406 w 4480560"/>
              <a:gd name="csY3" fmla="*/ 0 h 27432"/>
              <a:gd name="csX4" fmla="*/ 2336292 w 4480560"/>
              <a:gd name="csY4" fmla="*/ 0 h 27432"/>
              <a:gd name="csX5" fmla="*/ 2931566 w 4480560"/>
              <a:gd name="csY5" fmla="*/ 0 h 27432"/>
              <a:gd name="csX6" fmla="*/ 3482035 w 4480560"/>
              <a:gd name="csY6" fmla="*/ 0 h 27432"/>
              <a:gd name="csX7" fmla="*/ 4480560 w 4480560"/>
              <a:gd name="csY7" fmla="*/ 0 h 27432"/>
              <a:gd name="csX8" fmla="*/ 4480560 w 4480560"/>
              <a:gd name="csY8" fmla="*/ 27432 h 27432"/>
              <a:gd name="csX9" fmla="*/ 3840480 w 4480560"/>
              <a:gd name="csY9" fmla="*/ 27432 h 27432"/>
              <a:gd name="csX10" fmla="*/ 3290011 w 4480560"/>
              <a:gd name="csY10" fmla="*/ 27432 h 27432"/>
              <a:gd name="csX11" fmla="*/ 2560320 w 4480560"/>
              <a:gd name="csY11" fmla="*/ 27432 h 27432"/>
              <a:gd name="csX12" fmla="*/ 1965046 w 4480560"/>
              <a:gd name="csY12" fmla="*/ 27432 h 27432"/>
              <a:gd name="csX13" fmla="*/ 1459382 w 4480560"/>
              <a:gd name="csY13" fmla="*/ 27432 h 27432"/>
              <a:gd name="csX14" fmla="*/ 774497 w 4480560"/>
              <a:gd name="csY14" fmla="*/ 27432 h 27432"/>
              <a:gd name="csX15" fmla="*/ 0 w 4480560"/>
              <a:gd name="csY15" fmla="*/ 27432 h 27432"/>
              <a:gd name="csX16" fmla="*/ 0 w 4480560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953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sX0" fmla="*/ 0 w 4480560"/>
              <a:gd name="csY0" fmla="*/ 0 h 27432"/>
              <a:gd name="csX1" fmla="*/ 595274 w 4480560"/>
              <a:gd name="csY1" fmla="*/ 0 h 27432"/>
              <a:gd name="csX2" fmla="*/ 1100938 w 4480560"/>
              <a:gd name="csY2" fmla="*/ 0 h 27432"/>
              <a:gd name="csX3" fmla="*/ 1651406 w 4480560"/>
              <a:gd name="csY3" fmla="*/ 0 h 27432"/>
              <a:gd name="csX4" fmla="*/ 2336292 w 4480560"/>
              <a:gd name="csY4" fmla="*/ 0 h 27432"/>
              <a:gd name="csX5" fmla="*/ 2931566 w 4480560"/>
              <a:gd name="csY5" fmla="*/ 0 h 27432"/>
              <a:gd name="csX6" fmla="*/ 3482035 w 4480560"/>
              <a:gd name="csY6" fmla="*/ 0 h 27432"/>
              <a:gd name="csX7" fmla="*/ 4480560 w 4480560"/>
              <a:gd name="csY7" fmla="*/ 0 h 27432"/>
              <a:gd name="csX8" fmla="*/ 4480560 w 4480560"/>
              <a:gd name="csY8" fmla="*/ 27432 h 27432"/>
              <a:gd name="csX9" fmla="*/ 3840480 w 4480560"/>
              <a:gd name="csY9" fmla="*/ 27432 h 27432"/>
              <a:gd name="csX10" fmla="*/ 3290011 w 4480560"/>
              <a:gd name="csY10" fmla="*/ 27432 h 27432"/>
              <a:gd name="csX11" fmla="*/ 2560320 w 4480560"/>
              <a:gd name="csY11" fmla="*/ 27432 h 27432"/>
              <a:gd name="csX12" fmla="*/ 1965046 w 4480560"/>
              <a:gd name="csY12" fmla="*/ 27432 h 27432"/>
              <a:gd name="csX13" fmla="*/ 1459382 w 4480560"/>
              <a:gd name="csY13" fmla="*/ 27432 h 27432"/>
              <a:gd name="csX14" fmla="*/ 774497 w 4480560"/>
              <a:gd name="csY14" fmla="*/ 27432 h 27432"/>
              <a:gd name="csX15" fmla="*/ 0 w 4480560"/>
              <a:gd name="csY15" fmla="*/ 27432 h 27432"/>
              <a:gd name="csX16" fmla="*/ 0 w 4480560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437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693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327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312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DA381740-063A-41A4-836D-85D14980E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B6CD22E-2269-419F-9E81-016EA035D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02F12E-EB24-D8B3-9B9D-7EE26E238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480" y="1295231"/>
            <a:ext cx="6705600" cy="432629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8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SUPPLY CHAIN Project</a:t>
            </a:r>
            <a:br>
              <a:rPr lang="en-US" sz="8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53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[ DATA ANALYTICS ]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A607D34-E2A9-4595-9DB2-5472E077C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7082" y="0"/>
            <a:ext cx="4884918" cy="6858000"/>
          </a:xfrm>
          <a:custGeom>
            <a:avLst/>
            <a:gdLst>
              <a:gd name="connsiteX0" fmla="*/ 1097203 w 4884918"/>
              <a:gd name="connsiteY0" fmla="*/ 0 h 6858000"/>
              <a:gd name="connsiteX1" fmla="*/ 1154155 w 4884918"/>
              <a:gd name="connsiteY1" fmla="*/ 0 h 6858000"/>
              <a:gd name="connsiteX2" fmla="*/ 972305 w 4884918"/>
              <a:gd name="connsiteY2" fmla="*/ 343212 h 6858000"/>
              <a:gd name="connsiteX3" fmla="*/ 780524 w 4884918"/>
              <a:gd name="connsiteY3" fmla="*/ 761067 h 6858000"/>
              <a:gd name="connsiteX4" fmla="*/ 737045 w 4884918"/>
              <a:gd name="connsiteY4" fmla="*/ 865164 h 6858000"/>
              <a:gd name="connsiteX5" fmla="*/ 762322 w 4884918"/>
              <a:gd name="connsiteY5" fmla="*/ 830676 h 6858000"/>
              <a:gd name="connsiteX6" fmla="*/ 1118805 w 4884918"/>
              <a:gd name="connsiteY6" fmla="*/ 160440 h 6858000"/>
              <a:gd name="connsiteX7" fmla="*/ 1221640 w 4884918"/>
              <a:gd name="connsiteY7" fmla="*/ 0 h 6858000"/>
              <a:gd name="connsiteX8" fmla="*/ 4884918 w 4884918"/>
              <a:gd name="connsiteY8" fmla="*/ 0 h 6858000"/>
              <a:gd name="connsiteX9" fmla="*/ 4884918 w 4884918"/>
              <a:gd name="connsiteY9" fmla="*/ 6857999 h 6858000"/>
              <a:gd name="connsiteX10" fmla="*/ 4884918 w 4884918"/>
              <a:gd name="connsiteY10" fmla="*/ 6858000 h 6858000"/>
              <a:gd name="connsiteX11" fmla="*/ 704817 w 4884918"/>
              <a:gd name="connsiteY11" fmla="*/ 6858000 h 6858000"/>
              <a:gd name="connsiteX12" fmla="*/ 618717 w 4884918"/>
              <a:gd name="connsiteY12" fmla="*/ 6672538 h 6858000"/>
              <a:gd name="connsiteX13" fmla="*/ 309324 w 4884918"/>
              <a:gd name="connsiteY13" fmla="*/ 5833618 h 6858000"/>
              <a:gd name="connsiteX14" fmla="*/ 209850 w 4884918"/>
              <a:gd name="connsiteY14" fmla="*/ 5484180 h 6858000"/>
              <a:gd name="connsiteX15" fmla="*/ 211619 w 4884918"/>
              <a:gd name="connsiteY15" fmla="*/ 5517653 h 6858000"/>
              <a:gd name="connsiteX16" fmla="*/ 361778 w 4884918"/>
              <a:gd name="connsiteY16" fmla="*/ 6145524 h 6858000"/>
              <a:gd name="connsiteX17" fmla="*/ 591356 w 4884918"/>
              <a:gd name="connsiteY17" fmla="*/ 6843306 h 6858000"/>
              <a:gd name="connsiteX18" fmla="*/ 597415 w 4884918"/>
              <a:gd name="connsiteY18" fmla="*/ 6858000 h 6858000"/>
              <a:gd name="connsiteX19" fmla="*/ 545224 w 4884918"/>
              <a:gd name="connsiteY19" fmla="*/ 6858000 h 6858000"/>
              <a:gd name="connsiteX20" fmla="*/ 533604 w 4884918"/>
              <a:gd name="connsiteY20" fmla="*/ 6830072 h 6858000"/>
              <a:gd name="connsiteX21" fmla="*/ 169657 w 4884918"/>
              <a:gd name="connsiteY21" fmla="*/ 5556577 h 6858000"/>
              <a:gd name="connsiteX22" fmla="*/ 12169 w 4884918"/>
              <a:gd name="connsiteY22" fmla="*/ 4362835 h 6858000"/>
              <a:gd name="connsiteX23" fmla="*/ 46168 w 4884918"/>
              <a:gd name="connsiteY23" fmla="*/ 3338487 h 6858000"/>
              <a:gd name="connsiteX24" fmla="*/ 490574 w 4884918"/>
              <a:gd name="connsiteY24" fmla="*/ 1381078 h 6858000"/>
              <a:gd name="connsiteX25" fmla="*/ 984701 w 4884918"/>
              <a:gd name="connsiteY25" fmla="*/ 2082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884918" h="6858000">
                <a:moveTo>
                  <a:pt x="1097203" y="0"/>
                </a:moveTo>
                <a:lnTo>
                  <a:pt x="1154155" y="0"/>
                </a:lnTo>
                <a:lnTo>
                  <a:pt x="972305" y="343212"/>
                </a:lnTo>
                <a:cubicBezTo>
                  <a:pt x="904739" y="480367"/>
                  <a:pt x="840941" y="619727"/>
                  <a:pt x="780524" y="761067"/>
                </a:cubicBezTo>
                <a:cubicBezTo>
                  <a:pt x="765737" y="795681"/>
                  <a:pt x="751579" y="830550"/>
                  <a:pt x="737045" y="865164"/>
                </a:cubicBezTo>
                <a:cubicBezTo>
                  <a:pt x="748306" y="856057"/>
                  <a:pt x="757014" y="844174"/>
                  <a:pt x="762322" y="830676"/>
                </a:cubicBezTo>
                <a:cubicBezTo>
                  <a:pt x="870201" y="600612"/>
                  <a:pt x="988539" y="376889"/>
                  <a:pt x="1118805" y="160440"/>
                </a:cubicBezTo>
                <a:lnTo>
                  <a:pt x="1221640" y="0"/>
                </a:lnTo>
                <a:lnTo>
                  <a:pt x="4884918" y="0"/>
                </a:lnTo>
                <a:lnTo>
                  <a:pt x="4884918" y="6857999"/>
                </a:lnTo>
                <a:lnTo>
                  <a:pt x="4884918" y="6858000"/>
                </a:lnTo>
                <a:lnTo>
                  <a:pt x="704817" y="6858000"/>
                </a:lnTo>
                <a:lnTo>
                  <a:pt x="618717" y="6672538"/>
                </a:lnTo>
                <a:cubicBezTo>
                  <a:pt x="501618" y="6400947"/>
                  <a:pt x="398622" y="6121213"/>
                  <a:pt x="309324" y="5833618"/>
                </a:cubicBezTo>
                <a:cubicBezTo>
                  <a:pt x="275071" y="5723183"/>
                  <a:pt x="246125" y="5611225"/>
                  <a:pt x="209850" y="5484180"/>
                </a:cubicBezTo>
                <a:cubicBezTo>
                  <a:pt x="209859" y="5495363"/>
                  <a:pt x="210448" y="5506534"/>
                  <a:pt x="211619" y="5517653"/>
                </a:cubicBezTo>
                <a:cubicBezTo>
                  <a:pt x="261166" y="5727113"/>
                  <a:pt x="303888" y="5938474"/>
                  <a:pt x="361778" y="6145524"/>
                </a:cubicBezTo>
                <a:cubicBezTo>
                  <a:pt x="428356" y="6383258"/>
                  <a:pt x="504422" y="6616111"/>
                  <a:pt x="591356" y="6843306"/>
                </a:cubicBezTo>
                <a:lnTo>
                  <a:pt x="597415" y="6858000"/>
                </a:lnTo>
                <a:lnTo>
                  <a:pt x="545224" y="6858000"/>
                </a:lnTo>
                <a:lnTo>
                  <a:pt x="533604" y="6830072"/>
                </a:lnTo>
                <a:cubicBezTo>
                  <a:pt x="376384" y="6416985"/>
                  <a:pt x="257344" y="5991917"/>
                  <a:pt x="169657" y="5556577"/>
                </a:cubicBezTo>
                <a:cubicBezTo>
                  <a:pt x="90154" y="5162256"/>
                  <a:pt x="43261" y="4763750"/>
                  <a:pt x="12169" y="4362835"/>
                </a:cubicBezTo>
                <a:cubicBezTo>
                  <a:pt x="-14122" y="4019865"/>
                  <a:pt x="4458" y="3679429"/>
                  <a:pt x="46168" y="3338487"/>
                </a:cubicBezTo>
                <a:cubicBezTo>
                  <a:pt x="125796" y="2672248"/>
                  <a:pt x="274744" y="2016203"/>
                  <a:pt x="490574" y="1381078"/>
                </a:cubicBezTo>
                <a:cubicBezTo>
                  <a:pt x="629230" y="976550"/>
                  <a:pt x="791584" y="584320"/>
                  <a:pt x="984701" y="208241"/>
                </a:cubicBezTo>
                <a:close/>
              </a:path>
            </a:pathLst>
          </a:custGeom>
          <a:solidFill>
            <a:schemeClr val="accent1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63DAB858-5A0C-4AFF-AAC6-705EDF8D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180" y="5439978"/>
            <a:ext cx="5897880" cy="27432"/>
          </a:xfrm>
          <a:custGeom>
            <a:avLst/>
            <a:gdLst>
              <a:gd name="csX0" fmla="*/ 0 w 5897880"/>
              <a:gd name="csY0" fmla="*/ 0 h 27432"/>
              <a:gd name="csX1" fmla="*/ 537362 w 5897880"/>
              <a:gd name="csY1" fmla="*/ 0 h 27432"/>
              <a:gd name="csX2" fmla="*/ 1133704 w 5897880"/>
              <a:gd name="csY2" fmla="*/ 0 h 27432"/>
              <a:gd name="csX3" fmla="*/ 1671066 w 5897880"/>
              <a:gd name="csY3" fmla="*/ 0 h 27432"/>
              <a:gd name="csX4" fmla="*/ 2385365 w 5897880"/>
              <a:gd name="csY4" fmla="*/ 0 h 27432"/>
              <a:gd name="csX5" fmla="*/ 3040685 w 5897880"/>
              <a:gd name="csY5" fmla="*/ 0 h 27432"/>
              <a:gd name="csX6" fmla="*/ 3696005 w 5897880"/>
              <a:gd name="csY6" fmla="*/ 0 h 27432"/>
              <a:gd name="csX7" fmla="*/ 4469282 w 5897880"/>
              <a:gd name="csY7" fmla="*/ 0 h 27432"/>
              <a:gd name="csX8" fmla="*/ 5183581 w 5897880"/>
              <a:gd name="csY8" fmla="*/ 0 h 27432"/>
              <a:gd name="csX9" fmla="*/ 5897880 w 5897880"/>
              <a:gd name="csY9" fmla="*/ 0 h 27432"/>
              <a:gd name="csX10" fmla="*/ 5897880 w 5897880"/>
              <a:gd name="csY10" fmla="*/ 27432 h 27432"/>
              <a:gd name="csX11" fmla="*/ 5419496 w 5897880"/>
              <a:gd name="csY11" fmla="*/ 27432 h 27432"/>
              <a:gd name="csX12" fmla="*/ 4882134 w 5897880"/>
              <a:gd name="csY12" fmla="*/ 27432 h 27432"/>
              <a:gd name="csX13" fmla="*/ 4167835 w 5897880"/>
              <a:gd name="csY13" fmla="*/ 27432 h 27432"/>
              <a:gd name="csX14" fmla="*/ 3394558 w 5897880"/>
              <a:gd name="csY14" fmla="*/ 27432 h 27432"/>
              <a:gd name="csX15" fmla="*/ 2798216 w 5897880"/>
              <a:gd name="csY15" fmla="*/ 27432 h 27432"/>
              <a:gd name="csX16" fmla="*/ 2024939 w 5897880"/>
              <a:gd name="csY16" fmla="*/ 27432 h 27432"/>
              <a:gd name="csX17" fmla="*/ 1487576 w 5897880"/>
              <a:gd name="csY17" fmla="*/ 27432 h 27432"/>
              <a:gd name="csX18" fmla="*/ 1009193 w 5897880"/>
              <a:gd name="csY18" fmla="*/ 27432 h 27432"/>
              <a:gd name="csX19" fmla="*/ 0 w 5897880"/>
              <a:gd name="csY19" fmla="*/ 27432 h 27432"/>
              <a:gd name="csX20" fmla="*/ 0 w 5897880"/>
              <a:gd name="csY20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5897880" h="27432" fill="none" extrusionOk="0">
                <a:moveTo>
                  <a:pt x="0" y="0"/>
                </a:moveTo>
                <a:cubicBezTo>
                  <a:pt x="232564" y="21549"/>
                  <a:pt x="389747" y="7320"/>
                  <a:pt x="537362" y="0"/>
                </a:cubicBezTo>
                <a:cubicBezTo>
                  <a:pt x="684977" y="-7320"/>
                  <a:pt x="894159" y="-7726"/>
                  <a:pt x="1133704" y="0"/>
                </a:cubicBezTo>
                <a:cubicBezTo>
                  <a:pt x="1373249" y="7726"/>
                  <a:pt x="1440352" y="-304"/>
                  <a:pt x="1671066" y="0"/>
                </a:cubicBezTo>
                <a:cubicBezTo>
                  <a:pt x="1901780" y="304"/>
                  <a:pt x="2091497" y="765"/>
                  <a:pt x="2385365" y="0"/>
                </a:cubicBezTo>
                <a:cubicBezTo>
                  <a:pt x="2679233" y="-765"/>
                  <a:pt x="2762926" y="2802"/>
                  <a:pt x="3040685" y="0"/>
                </a:cubicBezTo>
                <a:cubicBezTo>
                  <a:pt x="3318444" y="-2802"/>
                  <a:pt x="3409726" y="9093"/>
                  <a:pt x="3696005" y="0"/>
                </a:cubicBezTo>
                <a:cubicBezTo>
                  <a:pt x="3982284" y="-9093"/>
                  <a:pt x="4087272" y="27119"/>
                  <a:pt x="4469282" y="0"/>
                </a:cubicBezTo>
                <a:cubicBezTo>
                  <a:pt x="4851292" y="-27119"/>
                  <a:pt x="4924835" y="26473"/>
                  <a:pt x="5183581" y="0"/>
                </a:cubicBezTo>
                <a:cubicBezTo>
                  <a:pt x="5442327" y="-26473"/>
                  <a:pt x="5598463" y="7328"/>
                  <a:pt x="5897880" y="0"/>
                </a:cubicBezTo>
                <a:cubicBezTo>
                  <a:pt x="5898716" y="13055"/>
                  <a:pt x="5897707" y="18641"/>
                  <a:pt x="5897880" y="27432"/>
                </a:cubicBezTo>
                <a:cubicBezTo>
                  <a:pt x="5682742" y="40412"/>
                  <a:pt x="5520014" y="23844"/>
                  <a:pt x="5419496" y="27432"/>
                </a:cubicBezTo>
                <a:cubicBezTo>
                  <a:pt x="5318978" y="31020"/>
                  <a:pt x="5012864" y="6698"/>
                  <a:pt x="4882134" y="27432"/>
                </a:cubicBezTo>
                <a:cubicBezTo>
                  <a:pt x="4751404" y="48166"/>
                  <a:pt x="4313676" y="5207"/>
                  <a:pt x="4167835" y="27432"/>
                </a:cubicBezTo>
                <a:cubicBezTo>
                  <a:pt x="4021994" y="49657"/>
                  <a:pt x="3715729" y="59193"/>
                  <a:pt x="3394558" y="27432"/>
                </a:cubicBezTo>
                <a:cubicBezTo>
                  <a:pt x="3073387" y="-4329"/>
                  <a:pt x="3093227" y="38972"/>
                  <a:pt x="2798216" y="27432"/>
                </a:cubicBezTo>
                <a:cubicBezTo>
                  <a:pt x="2503205" y="15892"/>
                  <a:pt x="2297615" y="31603"/>
                  <a:pt x="2024939" y="27432"/>
                </a:cubicBezTo>
                <a:cubicBezTo>
                  <a:pt x="1752263" y="23261"/>
                  <a:pt x="1629814" y="3659"/>
                  <a:pt x="1487576" y="27432"/>
                </a:cubicBezTo>
                <a:cubicBezTo>
                  <a:pt x="1345338" y="51205"/>
                  <a:pt x="1238885" y="24954"/>
                  <a:pt x="1009193" y="27432"/>
                </a:cubicBezTo>
                <a:cubicBezTo>
                  <a:pt x="779501" y="29910"/>
                  <a:pt x="441829" y="-15535"/>
                  <a:pt x="0" y="27432"/>
                </a:cubicBezTo>
                <a:cubicBezTo>
                  <a:pt x="988" y="17221"/>
                  <a:pt x="-970" y="7538"/>
                  <a:pt x="0" y="0"/>
                </a:cubicBezTo>
                <a:close/>
              </a:path>
              <a:path w="5897880" h="27432" stroke="0" extrusionOk="0">
                <a:moveTo>
                  <a:pt x="0" y="0"/>
                </a:moveTo>
                <a:cubicBezTo>
                  <a:pt x="196299" y="-26676"/>
                  <a:pt x="463834" y="6738"/>
                  <a:pt x="596341" y="0"/>
                </a:cubicBezTo>
                <a:cubicBezTo>
                  <a:pt x="728848" y="-6738"/>
                  <a:pt x="857267" y="1845"/>
                  <a:pt x="1074725" y="0"/>
                </a:cubicBezTo>
                <a:cubicBezTo>
                  <a:pt x="1292183" y="-1845"/>
                  <a:pt x="1545672" y="3744"/>
                  <a:pt x="1848002" y="0"/>
                </a:cubicBezTo>
                <a:cubicBezTo>
                  <a:pt x="2150332" y="-3744"/>
                  <a:pt x="2306688" y="-14526"/>
                  <a:pt x="2444344" y="0"/>
                </a:cubicBezTo>
                <a:cubicBezTo>
                  <a:pt x="2582000" y="14526"/>
                  <a:pt x="2761095" y="-11862"/>
                  <a:pt x="3040685" y="0"/>
                </a:cubicBezTo>
                <a:cubicBezTo>
                  <a:pt x="3320275" y="11862"/>
                  <a:pt x="3622320" y="-32867"/>
                  <a:pt x="3813962" y="0"/>
                </a:cubicBezTo>
                <a:cubicBezTo>
                  <a:pt x="4005604" y="32867"/>
                  <a:pt x="4117810" y="-10778"/>
                  <a:pt x="4351325" y="0"/>
                </a:cubicBezTo>
                <a:cubicBezTo>
                  <a:pt x="4584840" y="10778"/>
                  <a:pt x="4963783" y="-32384"/>
                  <a:pt x="5124602" y="0"/>
                </a:cubicBezTo>
                <a:cubicBezTo>
                  <a:pt x="5285421" y="32384"/>
                  <a:pt x="5705238" y="-29538"/>
                  <a:pt x="5897880" y="0"/>
                </a:cubicBezTo>
                <a:cubicBezTo>
                  <a:pt x="5898677" y="11634"/>
                  <a:pt x="5899083" y="16994"/>
                  <a:pt x="5897880" y="27432"/>
                </a:cubicBezTo>
                <a:cubicBezTo>
                  <a:pt x="5630425" y="7719"/>
                  <a:pt x="5532865" y="21388"/>
                  <a:pt x="5242560" y="27432"/>
                </a:cubicBezTo>
                <a:cubicBezTo>
                  <a:pt x="4952255" y="33476"/>
                  <a:pt x="4783060" y="14892"/>
                  <a:pt x="4646219" y="27432"/>
                </a:cubicBezTo>
                <a:cubicBezTo>
                  <a:pt x="4509378" y="39972"/>
                  <a:pt x="4163771" y="-4851"/>
                  <a:pt x="3872941" y="27432"/>
                </a:cubicBezTo>
                <a:cubicBezTo>
                  <a:pt x="3582111" y="59715"/>
                  <a:pt x="3362704" y="7742"/>
                  <a:pt x="3099664" y="27432"/>
                </a:cubicBezTo>
                <a:cubicBezTo>
                  <a:pt x="2836624" y="47122"/>
                  <a:pt x="2747441" y="28801"/>
                  <a:pt x="2562301" y="27432"/>
                </a:cubicBezTo>
                <a:cubicBezTo>
                  <a:pt x="2377161" y="26063"/>
                  <a:pt x="2104946" y="30879"/>
                  <a:pt x="1906981" y="27432"/>
                </a:cubicBezTo>
                <a:cubicBezTo>
                  <a:pt x="1709016" y="23985"/>
                  <a:pt x="1304654" y="6821"/>
                  <a:pt x="1133704" y="27432"/>
                </a:cubicBezTo>
                <a:cubicBezTo>
                  <a:pt x="962754" y="48043"/>
                  <a:pt x="457048" y="12129"/>
                  <a:pt x="0" y="27432"/>
                </a:cubicBezTo>
                <a:cubicBezTo>
                  <a:pt x="894" y="14250"/>
                  <a:pt x="667" y="11053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41275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53BEA983-EAAB-42FB-84E9-E77708168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9016" y="5440680"/>
            <a:ext cx="3200400" cy="27432"/>
          </a:xfrm>
          <a:custGeom>
            <a:avLst/>
            <a:gdLst>
              <a:gd name="csX0" fmla="*/ 0 w 3200400"/>
              <a:gd name="csY0" fmla="*/ 0 h 27432"/>
              <a:gd name="csX1" fmla="*/ 608076 w 3200400"/>
              <a:gd name="csY1" fmla="*/ 0 h 27432"/>
              <a:gd name="csX2" fmla="*/ 1248156 w 3200400"/>
              <a:gd name="csY2" fmla="*/ 0 h 27432"/>
              <a:gd name="csX3" fmla="*/ 1920240 w 3200400"/>
              <a:gd name="csY3" fmla="*/ 0 h 27432"/>
              <a:gd name="csX4" fmla="*/ 2592324 w 3200400"/>
              <a:gd name="csY4" fmla="*/ 0 h 27432"/>
              <a:gd name="csX5" fmla="*/ 3200400 w 3200400"/>
              <a:gd name="csY5" fmla="*/ 0 h 27432"/>
              <a:gd name="csX6" fmla="*/ 3200400 w 3200400"/>
              <a:gd name="csY6" fmla="*/ 27432 h 27432"/>
              <a:gd name="csX7" fmla="*/ 2496312 w 3200400"/>
              <a:gd name="csY7" fmla="*/ 27432 h 27432"/>
              <a:gd name="csX8" fmla="*/ 1792224 w 3200400"/>
              <a:gd name="csY8" fmla="*/ 27432 h 27432"/>
              <a:gd name="csX9" fmla="*/ 1152144 w 3200400"/>
              <a:gd name="csY9" fmla="*/ 27432 h 27432"/>
              <a:gd name="csX10" fmla="*/ 0 w 3200400"/>
              <a:gd name="csY10" fmla="*/ 27432 h 27432"/>
              <a:gd name="csX11" fmla="*/ 0 w 3200400"/>
              <a:gd name="csY11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00400" h="27432" fill="none" extrusionOk="0">
                <a:moveTo>
                  <a:pt x="0" y="0"/>
                </a:moveTo>
                <a:cubicBezTo>
                  <a:pt x="176560" y="-17034"/>
                  <a:pt x="345323" y="-28956"/>
                  <a:pt x="608076" y="0"/>
                </a:cubicBezTo>
                <a:cubicBezTo>
                  <a:pt x="870829" y="28956"/>
                  <a:pt x="955637" y="-27357"/>
                  <a:pt x="1248156" y="0"/>
                </a:cubicBezTo>
                <a:cubicBezTo>
                  <a:pt x="1540675" y="27357"/>
                  <a:pt x="1624069" y="30558"/>
                  <a:pt x="1920240" y="0"/>
                </a:cubicBezTo>
                <a:cubicBezTo>
                  <a:pt x="2216411" y="-30558"/>
                  <a:pt x="2344585" y="12271"/>
                  <a:pt x="2592324" y="0"/>
                </a:cubicBezTo>
                <a:cubicBezTo>
                  <a:pt x="2840063" y="-12271"/>
                  <a:pt x="2987913" y="7129"/>
                  <a:pt x="3200400" y="0"/>
                </a:cubicBezTo>
                <a:cubicBezTo>
                  <a:pt x="3199234" y="7395"/>
                  <a:pt x="3200445" y="21864"/>
                  <a:pt x="3200400" y="27432"/>
                </a:cubicBezTo>
                <a:cubicBezTo>
                  <a:pt x="2991642" y="45977"/>
                  <a:pt x="2778729" y="1200"/>
                  <a:pt x="2496312" y="27432"/>
                </a:cubicBezTo>
                <a:cubicBezTo>
                  <a:pt x="2213895" y="53664"/>
                  <a:pt x="2080041" y="8460"/>
                  <a:pt x="1792224" y="27432"/>
                </a:cubicBezTo>
                <a:cubicBezTo>
                  <a:pt x="1504407" y="46404"/>
                  <a:pt x="1357364" y="6320"/>
                  <a:pt x="1152144" y="27432"/>
                </a:cubicBezTo>
                <a:cubicBezTo>
                  <a:pt x="946924" y="48544"/>
                  <a:pt x="515176" y="61411"/>
                  <a:pt x="0" y="27432"/>
                </a:cubicBezTo>
                <a:cubicBezTo>
                  <a:pt x="-503" y="20663"/>
                  <a:pt x="1168" y="5855"/>
                  <a:pt x="0" y="0"/>
                </a:cubicBezTo>
                <a:close/>
              </a:path>
              <a:path w="3200400" h="27432" stroke="0" extrusionOk="0">
                <a:moveTo>
                  <a:pt x="0" y="0"/>
                </a:moveTo>
                <a:cubicBezTo>
                  <a:pt x="273892" y="-2049"/>
                  <a:pt x="368520" y="4190"/>
                  <a:pt x="608076" y="0"/>
                </a:cubicBezTo>
                <a:cubicBezTo>
                  <a:pt x="847632" y="-4190"/>
                  <a:pt x="971999" y="7437"/>
                  <a:pt x="1152144" y="0"/>
                </a:cubicBezTo>
                <a:cubicBezTo>
                  <a:pt x="1332289" y="-7437"/>
                  <a:pt x="1665848" y="24107"/>
                  <a:pt x="1856232" y="0"/>
                </a:cubicBezTo>
                <a:cubicBezTo>
                  <a:pt x="2046616" y="-24107"/>
                  <a:pt x="2167965" y="18079"/>
                  <a:pt x="2464308" y="0"/>
                </a:cubicBezTo>
                <a:cubicBezTo>
                  <a:pt x="2760651" y="-18079"/>
                  <a:pt x="2877599" y="28161"/>
                  <a:pt x="3200400" y="0"/>
                </a:cubicBezTo>
                <a:cubicBezTo>
                  <a:pt x="3200593" y="12649"/>
                  <a:pt x="3199412" y="17989"/>
                  <a:pt x="3200400" y="27432"/>
                </a:cubicBezTo>
                <a:cubicBezTo>
                  <a:pt x="2978255" y="22115"/>
                  <a:pt x="2854979" y="18349"/>
                  <a:pt x="2560320" y="27432"/>
                </a:cubicBezTo>
                <a:cubicBezTo>
                  <a:pt x="2265661" y="36515"/>
                  <a:pt x="2043241" y="2929"/>
                  <a:pt x="1856232" y="27432"/>
                </a:cubicBezTo>
                <a:cubicBezTo>
                  <a:pt x="1669223" y="51935"/>
                  <a:pt x="1428863" y="5228"/>
                  <a:pt x="1312164" y="27432"/>
                </a:cubicBezTo>
                <a:cubicBezTo>
                  <a:pt x="1195465" y="49636"/>
                  <a:pt x="838125" y="31438"/>
                  <a:pt x="672084" y="27432"/>
                </a:cubicBezTo>
                <a:cubicBezTo>
                  <a:pt x="506043" y="23426"/>
                  <a:pt x="200317" y="-1243"/>
                  <a:pt x="0" y="27432"/>
                </a:cubicBezTo>
                <a:cubicBezTo>
                  <a:pt x="1300" y="19678"/>
                  <a:pt x="-86" y="12044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6F2B6D-ECFA-C372-634E-6DAEA9E55A8A}"/>
              </a:ext>
            </a:extLst>
          </p:cNvPr>
          <p:cNvSpPr txBox="1"/>
          <p:nvPr/>
        </p:nvSpPr>
        <p:spPr>
          <a:xfrm>
            <a:off x="7874000" y="2240355"/>
            <a:ext cx="40335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latin typeface="Aharoni" panose="02010803020104030203" pitchFamily="2" charset="-79"/>
                <a:cs typeface="Aharoni" panose="02010803020104030203" pitchFamily="2" charset="-79"/>
              </a:rPr>
              <a:t>Presented by (Group : 7)</a:t>
            </a:r>
          </a:p>
          <a:p>
            <a:endParaRPr lang="en-GB" sz="3600" b="1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en-GB" sz="2800" b="1" dirty="0">
                <a:latin typeface="Aharoni" panose="02010803020104030203" pitchFamily="2" charset="-79"/>
                <a:cs typeface="Aharoni" panose="02010803020104030203" pitchFamily="2" charset="-79"/>
              </a:rPr>
              <a:t>1. Deepak</a:t>
            </a:r>
          </a:p>
          <a:p>
            <a:r>
              <a:rPr lang="en-GB" sz="2800" b="1" dirty="0">
                <a:latin typeface="Aharoni" panose="02010803020104030203" pitchFamily="2" charset="-79"/>
                <a:cs typeface="Aharoni" panose="02010803020104030203" pitchFamily="2" charset="-79"/>
              </a:rPr>
              <a:t>2. Diksha</a:t>
            </a:r>
          </a:p>
          <a:p>
            <a:r>
              <a:rPr lang="en-GB" sz="2800" b="1" dirty="0">
                <a:latin typeface="Aharoni" panose="02010803020104030203" pitchFamily="2" charset="-79"/>
                <a:cs typeface="Aharoni" panose="02010803020104030203" pitchFamily="2" charset="-79"/>
              </a:rPr>
              <a:t>3. Ketaki</a:t>
            </a:r>
          </a:p>
        </p:txBody>
      </p:sp>
    </p:spTree>
    <p:extLst>
      <p:ext uri="{BB962C8B-B14F-4D97-AF65-F5344CB8AC3E}">
        <p14:creationId xmlns:p14="http://schemas.microsoft.com/office/powerpoint/2010/main" val="2995520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1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1650E0-96D6-9F1B-6306-ABFA5A0C2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GB" sz="68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A36C3-1184-5E50-2C22-0F7D29260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972869"/>
            <a:ext cx="6507145" cy="359017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GB" sz="2400" b="1" dirty="0">
                <a:latin typeface="Agency FB" panose="020B0503020202020204" pitchFamily="34" charset="0"/>
                <a:cs typeface="Aharoni" panose="02010803020104030203" pitchFamily="2" charset="-79"/>
              </a:rPr>
              <a:t>01. Introduction &amp; Objectives</a:t>
            </a:r>
            <a:br>
              <a:rPr lang="en-GB" sz="2400" b="1" dirty="0">
                <a:latin typeface="Agency FB" panose="020B0503020202020204" pitchFamily="34" charset="0"/>
                <a:cs typeface="Aharoni" panose="02010803020104030203" pitchFamily="2" charset="-79"/>
              </a:rPr>
            </a:br>
            <a:r>
              <a:rPr lang="en-GB" sz="2400" b="1" dirty="0">
                <a:latin typeface="Agency FB" panose="020B0503020202020204" pitchFamily="34" charset="0"/>
                <a:cs typeface="Aharoni" panose="02010803020104030203" pitchFamily="2" charset="-79"/>
              </a:rPr>
              <a:t>02. Tools &amp; Project Workflow</a:t>
            </a:r>
            <a:br>
              <a:rPr lang="en-GB" sz="2400" b="1" dirty="0">
                <a:latin typeface="Agency FB" panose="020B0503020202020204" pitchFamily="34" charset="0"/>
                <a:cs typeface="Aharoni" panose="02010803020104030203" pitchFamily="2" charset="-79"/>
              </a:rPr>
            </a:br>
            <a:r>
              <a:rPr lang="en-GB" sz="2400" b="1" dirty="0">
                <a:latin typeface="Agency FB" panose="020B0503020202020204" pitchFamily="34" charset="0"/>
                <a:cs typeface="Aharoni" panose="02010803020104030203" pitchFamily="2" charset="-79"/>
              </a:rPr>
              <a:t>03. Key Performance Indicators – Part 1</a:t>
            </a:r>
            <a:br>
              <a:rPr lang="en-GB" sz="2400" b="1" dirty="0">
                <a:latin typeface="Agency FB" panose="020B0503020202020204" pitchFamily="34" charset="0"/>
                <a:cs typeface="Aharoni" panose="02010803020104030203" pitchFamily="2" charset="-79"/>
              </a:rPr>
            </a:br>
            <a:r>
              <a:rPr lang="en-GB" sz="2400" b="1" dirty="0">
                <a:latin typeface="Agency FB" panose="020B0503020202020204" pitchFamily="34" charset="0"/>
                <a:cs typeface="Aharoni" panose="02010803020104030203" pitchFamily="2" charset="-79"/>
              </a:rPr>
              <a:t>04. Key Performance Indicators – Part 2</a:t>
            </a:r>
            <a:br>
              <a:rPr lang="en-GB" sz="2400" b="1" dirty="0">
                <a:latin typeface="Agency FB" panose="020B0503020202020204" pitchFamily="34" charset="0"/>
                <a:cs typeface="Aharoni" panose="02010803020104030203" pitchFamily="2" charset="-79"/>
              </a:rPr>
            </a:br>
            <a:r>
              <a:rPr lang="en-GB" sz="2400" b="1" dirty="0">
                <a:latin typeface="Agency FB" panose="020B0503020202020204" pitchFamily="34" charset="0"/>
                <a:cs typeface="Aharoni" panose="02010803020104030203" pitchFamily="2" charset="-79"/>
              </a:rPr>
              <a:t>05. Dashboard Visualizations [ </a:t>
            </a:r>
            <a:r>
              <a:rPr lang="en-GB" sz="2400" b="1" dirty="0" err="1">
                <a:latin typeface="Agency FB" panose="020B0503020202020204" pitchFamily="34" charset="0"/>
                <a:cs typeface="Aharoni" panose="02010803020104030203" pitchFamily="2" charset="-79"/>
              </a:rPr>
              <a:t>Excel,tableau</a:t>
            </a:r>
            <a:r>
              <a:rPr lang="en-GB" sz="2400" b="1" dirty="0">
                <a:latin typeface="Agency FB" panose="020B0503020202020204" pitchFamily="34" charset="0"/>
                <a:cs typeface="Aharoni" panose="02010803020104030203" pitchFamily="2" charset="-79"/>
              </a:rPr>
              <a:t> and power bi ]</a:t>
            </a:r>
            <a:br>
              <a:rPr lang="en-GB" sz="2400" b="1" dirty="0">
                <a:latin typeface="Agency FB" panose="020B0503020202020204" pitchFamily="34" charset="0"/>
                <a:cs typeface="Aharoni" panose="02010803020104030203" pitchFamily="2" charset="-79"/>
              </a:rPr>
            </a:br>
            <a:r>
              <a:rPr lang="en-GB" sz="2400" b="1" dirty="0">
                <a:latin typeface="Agency FB" panose="020B0503020202020204" pitchFamily="34" charset="0"/>
                <a:cs typeface="Aharoni" panose="02010803020104030203" pitchFamily="2" charset="-79"/>
              </a:rPr>
              <a:t>07. MySQL Queries &amp; Analysis</a:t>
            </a:r>
            <a:br>
              <a:rPr lang="en-GB" sz="2400" b="1" dirty="0">
                <a:latin typeface="Agency FB" panose="020B0503020202020204" pitchFamily="34" charset="0"/>
                <a:cs typeface="Aharoni" panose="02010803020104030203" pitchFamily="2" charset="-79"/>
              </a:rPr>
            </a:br>
            <a:r>
              <a:rPr lang="en-GB" sz="2400" b="1" dirty="0">
                <a:latin typeface="Agency FB" panose="020B0503020202020204" pitchFamily="34" charset="0"/>
                <a:cs typeface="Aharoni" panose="02010803020104030203" pitchFamily="2" charset="-79"/>
              </a:rPr>
              <a:t>08. Key Insights &amp; Conclusion</a:t>
            </a:r>
          </a:p>
          <a:p>
            <a:pPr>
              <a:lnSpc>
                <a:spcPct val="100000"/>
              </a:lnSpc>
            </a:pPr>
            <a:endParaRPr lang="en-GB" sz="2400" b="1" dirty="0">
              <a:latin typeface="Agency FB" panose="020B050302020202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36213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1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7EF0C5-DA57-FCEC-CE18-4596651CE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021179"/>
          </a:xfrm>
        </p:spPr>
        <p:txBody>
          <a:bodyPr>
            <a:normAutofit fontScale="90000"/>
          </a:bodyPr>
          <a:lstStyle/>
          <a:p>
            <a:r>
              <a:rPr lang="en-GB" sz="68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INTRODUCTION &amp; OBJECTIVES</a:t>
            </a:r>
            <a:endParaRPr lang="en-GB" sz="6800" dirty="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1A21E-C359-0BDA-59EE-BBF055027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13997"/>
            <a:ext cx="12188952" cy="479953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GB" sz="2000" b="1" dirty="0">
                <a:latin typeface="Agency FB" panose="020B0503020202020204" pitchFamily="34" charset="0"/>
                <a:cs typeface="Aharoni" panose="02010803020104030203" pitchFamily="2" charset="-79"/>
              </a:rPr>
              <a:t>INTRODUCTION</a:t>
            </a:r>
          </a:p>
          <a:p>
            <a:pPr>
              <a:lnSpc>
                <a:spcPct val="100000"/>
              </a:lnSpc>
            </a:pPr>
            <a:r>
              <a:rPr lang="en-GB" sz="2000" b="1" dirty="0">
                <a:latin typeface="Agency FB" panose="020B0503020202020204" pitchFamily="34" charset="0"/>
                <a:cs typeface="Aharoni" panose="02010803020104030203" pitchFamily="2" charset="-79"/>
              </a:rPr>
              <a:t>This project focuses on </a:t>
            </a:r>
            <a:r>
              <a:rPr lang="en-GB" sz="2000" b="1" dirty="0" err="1">
                <a:latin typeface="Agency FB" panose="020B0503020202020204" pitchFamily="34" charset="0"/>
                <a:cs typeface="Aharoni" panose="02010803020104030203" pitchFamily="2" charset="-79"/>
              </a:rPr>
              <a:t>analyzing</a:t>
            </a:r>
            <a:r>
              <a:rPr lang="en-GB" sz="2000" b="1" dirty="0">
                <a:latin typeface="Agency FB" panose="020B0503020202020204" pitchFamily="34" charset="0"/>
                <a:cs typeface="Aharoni" panose="02010803020104030203" pitchFamily="2" charset="-79"/>
              </a:rPr>
              <a:t> supply chain, order, delivery, customer and revenue data to evaluate overall business performance.</a:t>
            </a:r>
          </a:p>
          <a:p>
            <a:pPr>
              <a:lnSpc>
                <a:spcPct val="100000"/>
              </a:lnSpc>
            </a:pPr>
            <a:r>
              <a:rPr lang="en-GB" sz="2000" b="1" dirty="0">
                <a:latin typeface="Agency FB" panose="020B0503020202020204" pitchFamily="34" charset="0"/>
                <a:cs typeface="Aharoni" panose="02010803020104030203" pitchFamily="2" charset="-79"/>
              </a:rPr>
              <a:t>The project uses data analytics techniques to calculate important Key Performance Indicators (KPIs) and identify trends and performance patterns.</a:t>
            </a:r>
          </a:p>
          <a:p>
            <a:pPr>
              <a:lnSpc>
                <a:spcPct val="100000"/>
              </a:lnSpc>
            </a:pPr>
            <a:r>
              <a:rPr lang="en-GB" sz="2000" b="1" dirty="0">
                <a:latin typeface="Agency FB" panose="020B0503020202020204" pitchFamily="34" charset="0"/>
                <a:cs typeface="Aharoni" panose="02010803020104030203" pitchFamily="2" charset="-79"/>
              </a:rPr>
              <a:t>The analysis is implemented using Excel, MySQL, Tableau and Power BI to convert raw data into meaningful business insights.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2000" b="1" dirty="0">
                <a:latin typeface="Agency FB" panose="020B0503020202020204" pitchFamily="34" charset="0"/>
                <a:cs typeface="Aharoni" panose="02010803020104030203" pitchFamily="2" charset="-79"/>
              </a:rPr>
              <a:t>OBJECTIVES</a:t>
            </a:r>
          </a:p>
          <a:p>
            <a:pPr lvl="0">
              <a:lnSpc>
                <a:spcPct val="100000"/>
              </a:lnSpc>
            </a:pPr>
            <a:r>
              <a:rPr lang="en-GB" sz="2000" b="1" dirty="0" err="1">
                <a:latin typeface="Agency FB" panose="020B0503020202020204" pitchFamily="34" charset="0"/>
                <a:cs typeface="Aharoni" panose="02010803020104030203" pitchFamily="2" charset="-79"/>
              </a:rPr>
              <a:t>Analyze</a:t>
            </a:r>
            <a:r>
              <a:rPr lang="en-GB" sz="2000" b="1" dirty="0">
                <a:latin typeface="Agency FB" panose="020B0503020202020204" pitchFamily="34" charset="0"/>
                <a:cs typeface="Aharoni" panose="02010803020104030203" pitchFamily="2" charset="-79"/>
              </a:rPr>
              <a:t> supply chain and order performance. </a:t>
            </a:r>
          </a:p>
          <a:p>
            <a:pPr lvl="0">
              <a:lnSpc>
                <a:spcPct val="100000"/>
              </a:lnSpc>
            </a:pPr>
            <a:r>
              <a:rPr lang="en-GB" sz="2000" b="1" dirty="0">
                <a:latin typeface="Agency FB" panose="020B0503020202020204" pitchFamily="34" charset="0"/>
                <a:cs typeface="Aharoni" panose="02010803020104030203" pitchFamily="2" charset="-79"/>
              </a:rPr>
              <a:t>Calculate and monitor 20 important KPIs. </a:t>
            </a:r>
          </a:p>
          <a:p>
            <a:pPr lvl="0">
              <a:lnSpc>
                <a:spcPct val="100000"/>
              </a:lnSpc>
            </a:pPr>
            <a:r>
              <a:rPr lang="en-GB" sz="2000" b="1" dirty="0" err="1">
                <a:latin typeface="Agency FB" panose="020B0503020202020204" pitchFamily="34" charset="0"/>
                <a:cs typeface="Aharoni" panose="02010803020104030203" pitchFamily="2" charset="-79"/>
              </a:rPr>
              <a:t>Analyze</a:t>
            </a:r>
            <a:r>
              <a:rPr lang="en-GB" sz="2000" b="1" dirty="0">
                <a:latin typeface="Agency FB" panose="020B0503020202020204" pitchFamily="34" charset="0"/>
                <a:cs typeface="Aharoni" panose="02010803020104030203" pitchFamily="2" charset="-79"/>
              </a:rPr>
              <a:t> revenue, profitability and delivery performance. </a:t>
            </a:r>
          </a:p>
          <a:p>
            <a:pPr lvl="0">
              <a:lnSpc>
                <a:spcPct val="100000"/>
              </a:lnSpc>
            </a:pPr>
            <a:r>
              <a:rPr lang="en-GB" sz="2000" b="1" dirty="0">
                <a:latin typeface="Agency FB" panose="020B0503020202020204" pitchFamily="34" charset="0"/>
                <a:cs typeface="Aharoni" panose="02010803020104030203" pitchFamily="2" charset="-79"/>
              </a:rPr>
              <a:t>Identify regional and monthly revenue trends. </a:t>
            </a:r>
          </a:p>
          <a:p>
            <a:pPr>
              <a:lnSpc>
                <a:spcPct val="100000"/>
              </a:lnSpc>
            </a:pPr>
            <a:r>
              <a:rPr lang="en-GB" sz="2000" b="1" dirty="0">
                <a:latin typeface="Agency FB" panose="020B0503020202020204" pitchFamily="34" charset="0"/>
                <a:cs typeface="Aharoni" panose="02010803020104030203" pitchFamily="2" charset="-79"/>
              </a:rPr>
              <a:t>Perform data analysis using MySQL queries and Build interactive dashboards using Excel, Tableau, Power BI. 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lang="en-GB" sz="2000" b="1" dirty="0">
                <a:latin typeface="Agency FB" panose="020B0503020202020204" pitchFamily="34" charset="0"/>
                <a:cs typeface="Aharoni" panose="02010803020104030203" pitchFamily="2" charset="-79"/>
              </a:rPr>
              <a:t> </a:t>
            </a:r>
          </a:p>
          <a:p>
            <a:pPr marL="0" lvl="0" indent="0">
              <a:lnSpc>
                <a:spcPct val="100000"/>
              </a:lnSpc>
              <a:buNone/>
            </a:pPr>
            <a:endParaRPr lang="en-GB" sz="2000" b="1" dirty="0">
              <a:latin typeface="Agency FB" panose="020B0503020202020204" pitchFamily="34" charset="0"/>
              <a:cs typeface="Aharoni" panose="02010803020104030203" pitchFamily="2" charset="-79"/>
            </a:endParaRPr>
          </a:p>
          <a:p>
            <a:pPr marL="0" indent="0">
              <a:lnSpc>
                <a:spcPct val="100000"/>
              </a:lnSpc>
              <a:buNone/>
            </a:pPr>
            <a:endParaRPr lang="en-GB" sz="2000" b="1" dirty="0">
              <a:latin typeface="Agency FB" panose="020B050302020202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928374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1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769CD6-B79A-55D7-56F9-F25B82175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GB" sz="7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TOOLS used</a:t>
            </a:r>
            <a:endParaRPr lang="en-GB" sz="6800" dirty="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29A56-5623-6BBC-B837-DADB02F7C729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LargePlainText"/>
                  </p202:designTagLst>
                </p202:designPr>
              </p:ext>
            </p:extLst>
          </p:nvPr>
        </p:nvSpPr>
        <p:spPr>
          <a:xfrm>
            <a:off x="838200" y="2052320"/>
            <a:ext cx="7919720" cy="48056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b="1" dirty="0">
                <a:latin typeface="Agency FB" panose="020B0503020202020204" pitchFamily="34" charset="0"/>
                <a:cs typeface="Aharoni" panose="02010803020104030203" pitchFamily="2" charset="-79"/>
              </a:rPr>
              <a:t>TOOLS USED</a:t>
            </a:r>
          </a:p>
          <a:p>
            <a:r>
              <a:rPr lang="en-GB" sz="2400" b="1" dirty="0">
                <a:latin typeface="Agency FB" panose="020B0503020202020204" pitchFamily="34" charset="0"/>
                <a:cs typeface="Aharoni" panose="02010803020104030203" pitchFamily="2" charset="-79"/>
              </a:rPr>
              <a:t>📊 EXCEL</a:t>
            </a:r>
          </a:p>
          <a:p>
            <a:r>
              <a:rPr lang="en-GB" sz="2400" dirty="0">
                <a:latin typeface="Agency FB" panose="020B0503020202020204" pitchFamily="34" charset="0"/>
                <a:cs typeface="Aharoni" panose="02010803020104030203" pitchFamily="2" charset="-79"/>
              </a:rPr>
              <a:t>Data cleaning, calculations and dashboard creation.</a:t>
            </a:r>
          </a:p>
          <a:p>
            <a:r>
              <a:rPr lang="en-GB" sz="2400" b="1" dirty="0">
                <a:latin typeface="Agency FB" panose="020B0503020202020204" pitchFamily="34" charset="0"/>
                <a:cs typeface="Aharoni" panose="02010803020104030203" pitchFamily="2" charset="-79"/>
              </a:rPr>
              <a:t>🗄️ MYSQL</a:t>
            </a:r>
          </a:p>
          <a:p>
            <a:r>
              <a:rPr lang="en-GB" sz="2400" dirty="0">
                <a:latin typeface="Agency FB" panose="020B0503020202020204" pitchFamily="34" charset="0"/>
                <a:cs typeface="Aharoni" panose="02010803020104030203" pitchFamily="2" charset="-79"/>
              </a:rPr>
              <a:t>Data querying, aggregation and KPI analysis.</a:t>
            </a:r>
          </a:p>
          <a:p>
            <a:r>
              <a:rPr lang="en-GB" sz="2400" b="1" dirty="0">
                <a:latin typeface="Agency FB" panose="020B0503020202020204" pitchFamily="34" charset="0"/>
                <a:cs typeface="Aharoni" panose="02010803020104030203" pitchFamily="2" charset="-79"/>
              </a:rPr>
              <a:t>📈 TABLEAU</a:t>
            </a:r>
          </a:p>
          <a:p>
            <a:r>
              <a:rPr lang="en-GB" sz="2400" dirty="0">
                <a:latin typeface="Agency FB" panose="020B0503020202020204" pitchFamily="34" charset="0"/>
                <a:cs typeface="Aharoni" panose="02010803020104030203" pitchFamily="2" charset="-79"/>
              </a:rPr>
              <a:t>Interactive visualizations and dashboard development.</a:t>
            </a:r>
          </a:p>
          <a:p>
            <a:r>
              <a:rPr lang="en-GB" sz="2400" b="1" dirty="0">
                <a:latin typeface="Agency FB" panose="020B0503020202020204" pitchFamily="34" charset="0"/>
                <a:cs typeface="Aharoni" panose="02010803020104030203" pitchFamily="2" charset="-79"/>
              </a:rPr>
              <a:t>📊 POWER BI</a:t>
            </a:r>
          </a:p>
          <a:p>
            <a:r>
              <a:rPr lang="en-GB" sz="2400" dirty="0">
                <a:latin typeface="Agency FB" panose="020B0503020202020204" pitchFamily="34" charset="0"/>
                <a:cs typeface="Aharoni" panose="02010803020104030203" pitchFamily="2" charset="-79"/>
              </a:rPr>
              <a:t>Interactive executive dashboard, KPIs, charts and slicers.</a:t>
            </a:r>
          </a:p>
          <a:p>
            <a:pPr marL="0" indent="0">
              <a:buNone/>
            </a:pPr>
            <a:endParaRPr lang="en-GB" sz="2400" dirty="0">
              <a:latin typeface="Agency FB" panose="020B050302020202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800666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1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B1A32D-830D-553B-FD6C-446604EF0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GB" sz="68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921DE-189D-9293-12C2-65CF73834525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452120" y="1828800"/>
            <a:ext cx="5095240" cy="499032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b="1" dirty="0">
                <a:latin typeface="Agency FB" panose="020B0503020202020204" pitchFamily="34" charset="0"/>
                <a:cs typeface="Aharoni" panose="02010803020104030203" pitchFamily="2" charset="-79"/>
              </a:rPr>
              <a:t>Raw Data</a:t>
            </a:r>
            <a:br>
              <a:rPr lang="en-GB" sz="2000" dirty="0">
                <a:latin typeface="Agency FB" panose="020B0503020202020204" pitchFamily="34" charset="0"/>
                <a:cs typeface="Aharoni" panose="02010803020104030203" pitchFamily="2" charset="-79"/>
              </a:rPr>
            </a:br>
            <a:r>
              <a:rPr lang="en-GB" sz="2000" dirty="0">
                <a:latin typeface="Agency FB" panose="020B0503020202020204" pitchFamily="34" charset="0"/>
                <a:cs typeface="Aharoni" panose="02010803020104030203" pitchFamily="2" charset="-79"/>
              </a:rPr>
              <a:t>↓</a:t>
            </a:r>
            <a:br>
              <a:rPr lang="en-GB" sz="2000" dirty="0">
                <a:latin typeface="Agency FB" panose="020B0503020202020204" pitchFamily="34" charset="0"/>
                <a:cs typeface="Aharoni" panose="02010803020104030203" pitchFamily="2" charset="-79"/>
              </a:rPr>
            </a:br>
            <a:r>
              <a:rPr lang="en-GB" sz="2000" b="1" dirty="0">
                <a:latin typeface="Agency FB" panose="020B0503020202020204" pitchFamily="34" charset="0"/>
                <a:cs typeface="Aharoni" panose="02010803020104030203" pitchFamily="2" charset="-79"/>
              </a:rPr>
              <a:t>Data Cleaning &amp; Preparation</a:t>
            </a:r>
            <a:br>
              <a:rPr lang="en-GB" sz="2000" dirty="0">
                <a:latin typeface="Agency FB" panose="020B0503020202020204" pitchFamily="34" charset="0"/>
                <a:cs typeface="Aharoni" panose="02010803020104030203" pitchFamily="2" charset="-79"/>
              </a:rPr>
            </a:br>
            <a:r>
              <a:rPr lang="en-GB" sz="2000" dirty="0">
                <a:latin typeface="Agency FB" panose="020B0503020202020204" pitchFamily="34" charset="0"/>
                <a:cs typeface="Aharoni" panose="02010803020104030203" pitchFamily="2" charset="-79"/>
              </a:rPr>
              <a:t>↓</a:t>
            </a:r>
            <a:br>
              <a:rPr lang="en-GB" sz="2000" dirty="0">
                <a:latin typeface="Agency FB" panose="020B0503020202020204" pitchFamily="34" charset="0"/>
                <a:cs typeface="Aharoni" panose="02010803020104030203" pitchFamily="2" charset="-79"/>
              </a:rPr>
            </a:br>
            <a:r>
              <a:rPr lang="en-GB" sz="2000" b="1" dirty="0">
                <a:latin typeface="Agency FB" panose="020B0503020202020204" pitchFamily="34" charset="0"/>
                <a:cs typeface="Aharoni" panose="02010803020104030203" pitchFamily="2" charset="-79"/>
              </a:rPr>
              <a:t>Data Transformation</a:t>
            </a:r>
            <a:br>
              <a:rPr lang="en-GB" sz="2000" dirty="0">
                <a:latin typeface="Agency FB" panose="020B0503020202020204" pitchFamily="34" charset="0"/>
                <a:cs typeface="Aharoni" panose="02010803020104030203" pitchFamily="2" charset="-79"/>
              </a:rPr>
            </a:br>
            <a:r>
              <a:rPr lang="en-GB" sz="2000" dirty="0">
                <a:latin typeface="Agency FB" panose="020B0503020202020204" pitchFamily="34" charset="0"/>
                <a:cs typeface="Aharoni" panose="02010803020104030203" pitchFamily="2" charset="-79"/>
              </a:rPr>
              <a:t>↓</a:t>
            </a:r>
            <a:br>
              <a:rPr lang="en-GB" sz="2000" dirty="0">
                <a:latin typeface="Agency FB" panose="020B0503020202020204" pitchFamily="34" charset="0"/>
                <a:cs typeface="Aharoni" panose="02010803020104030203" pitchFamily="2" charset="-79"/>
              </a:rPr>
            </a:br>
            <a:r>
              <a:rPr lang="en-GB" sz="2000" b="1" dirty="0">
                <a:latin typeface="Agency FB" panose="020B0503020202020204" pitchFamily="34" charset="0"/>
                <a:cs typeface="Aharoni" panose="02010803020104030203" pitchFamily="2" charset="-79"/>
              </a:rPr>
              <a:t>MySQL Analysis</a:t>
            </a:r>
            <a:br>
              <a:rPr lang="en-GB" sz="2000" dirty="0">
                <a:latin typeface="Agency FB" panose="020B0503020202020204" pitchFamily="34" charset="0"/>
                <a:cs typeface="Aharoni" panose="02010803020104030203" pitchFamily="2" charset="-79"/>
              </a:rPr>
            </a:br>
            <a:r>
              <a:rPr lang="en-GB" sz="2000" dirty="0">
                <a:latin typeface="Agency FB" panose="020B0503020202020204" pitchFamily="34" charset="0"/>
                <a:cs typeface="Aharoni" panose="02010803020104030203" pitchFamily="2" charset="-79"/>
              </a:rPr>
              <a:t>↓</a:t>
            </a:r>
            <a:br>
              <a:rPr lang="en-GB" sz="2000" dirty="0">
                <a:latin typeface="Agency FB" panose="020B0503020202020204" pitchFamily="34" charset="0"/>
                <a:cs typeface="Aharoni" panose="02010803020104030203" pitchFamily="2" charset="-79"/>
              </a:rPr>
            </a:br>
            <a:r>
              <a:rPr lang="en-GB" sz="2000" b="1" dirty="0">
                <a:latin typeface="Agency FB" panose="020B0503020202020204" pitchFamily="34" charset="0"/>
                <a:cs typeface="Aharoni" panose="02010803020104030203" pitchFamily="2" charset="-79"/>
              </a:rPr>
              <a:t>KPI Calculation</a:t>
            </a:r>
            <a:br>
              <a:rPr lang="en-GB" sz="2000" dirty="0">
                <a:latin typeface="Agency FB" panose="020B0503020202020204" pitchFamily="34" charset="0"/>
                <a:cs typeface="Aharoni" panose="02010803020104030203" pitchFamily="2" charset="-79"/>
              </a:rPr>
            </a:br>
            <a:r>
              <a:rPr lang="en-GB" sz="2000" dirty="0">
                <a:latin typeface="Agency FB" panose="020B0503020202020204" pitchFamily="34" charset="0"/>
                <a:cs typeface="Aharoni" panose="02010803020104030203" pitchFamily="2" charset="-79"/>
              </a:rPr>
              <a:t>↓</a:t>
            </a:r>
            <a:br>
              <a:rPr lang="en-GB" sz="2000" dirty="0">
                <a:latin typeface="Agency FB" panose="020B0503020202020204" pitchFamily="34" charset="0"/>
                <a:cs typeface="Aharoni" panose="02010803020104030203" pitchFamily="2" charset="-79"/>
              </a:rPr>
            </a:br>
            <a:r>
              <a:rPr lang="en-GB" sz="2000" b="1" dirty="0">
                <a:latin typeface="Agency FB" panose="020B0503020202020204" pitchFamily="34" charset="0"/>
                <a:cs typeface="Aharoni" panose="02010803020104030203" pitchFamily="2" charset="-79"/>
              </a:rPr>
              <a:t>Visualization</a:t>
            </a:r>
            <a:br>
              <a:rPr lang="en-GB" sz="2000" dirty="0">
                <a:latin typeface="Agency FB" panose="020B0503020202020204" pitchFamily="34" charset="0"/>
                <a:cs typeface="Aharoni" panose="02010803020104030203" pitchFamily="2" charset="-79"/>
              </a:rPr>
            </a:br>
            <a:r>
              <a:rPr lang="en-GB" sz="2000" dirty="0">
                <a:latin typeface="Agency FB" panose="020B0503020202020204" pitchFamily="34" charset="0"/>
                <a:cs typeface="Aharoni" panose="02010803020104030203" pitchFamily="2" charset="-79"/>
              </a:rPr>
              <a:t>↓</a:t>
            </a:r>
            <a:br>
              <a:rPr lang="en-GB" sz="2000" dirty="0">
                <a:latin typeface="Agency FB" panose="020B0503020202020204" pitchFamily="34" charset="0"/>
                <a:cs typeface="Aharoni" panose="02010803020104030203" pitchFamily="2" charset="-79"/>
              </a:rPr>
            </a:br>
            <a:r>
              <a:rPr lang="en-GB" sz="2000" b="1" dirty="0">
                <a:latin typeface="Agency FB" panose="020B0503020202020204" pitchFamily="34" charset="0"/>
                <a:cs typeface="Aharoni" panose="02010803020104030203" pitchFamily="2" charset="-79"/>
              </a:rPr>
              <a:t>Dashboard Development</a:t>
            </a:r>
            <a:br>
              <a:rPr lang="en-GB" sz="2000" dirty="0">
                <a:latin typeface="Agency FB" panose="020B0503020202020204" pitchFamily="34" charset="0"/>
                <a:cs typeface="Aharoni" panose="02010803020104030203" pitchFamily="2" charset="-79"/>
              </a:rPr>
            </a:br>
            <a:r>
              <a:rPr lang="en-GB" sz="2000" dirty="0">
                <a:latin typeface="Agency FB" panose="020B0503020202020204" pitchFamily="34" charset="0"/>
                <a:cs typeface="Aharoni" panose="02010803020104030203" pitchFamily="2" charset="-79"/>
              </a:rPr>
              <a:t>↓</a:t>
            </a:r>
            <a:br>
              <a:rPr lang="en-GB" sz="2000" dirty="0">
                <a:latin typeface="Agency FB" panose="020B0503020202020204" pitchFamily="34" charset="0"/>
                <a:cs typeface="Aharoni" panose="02010803020104030203" pitchFamily="2" charset="-79"/>
              </a:rPr>
            </a:br>
            <a:r>
              <a:rPr lang="en-GB" sz="2000" b="1" dirty="0">
                <a:latin typeface="Agency FB" panose="020B0503020202020204" pitchFamily="34" charset="0"/>
                <a:cs typeface="Aharoni" panose="02010803020104030203" pitchFamily="2" charset="-79"/>
              </a:rPr>
              <a:t>Business Insights</a:t>
            </a:r>
            <a:endParaRPr lang="en-GB" sz="2000" dirty="0">
              <a:latin typeface="Agency FB" panose="020B0503020202020204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99240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1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2283CD-8637-0F4F-BC58-6B124D085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en-GB" sz="7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20 KPIs: </a:t>
            </a:r>
            <a:endParaRPr lang="en-GB" sz="6800" dirty="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F7008-ECA3-DFAC-3A90-97461ACEC242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838200" y="2255294"/>
            <a:ext cx="11350752" cy="45105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b="1" dirty="0">
                <a:latin typeface="Agency FB" panose="020B0503020202020204" pitchFamily="34" charset="0"/>
                <a:cs typeface="Aharoni" panose="02010803020104030203" pitchFamily="2" charset="-79"/>
              </a:rPr>
              <a:t>1. Total Revenue -</a:t>
            </a:r>
            <a:r>
              <a:rPr lang="en-GB" sz="2000" dirty="0">
                <a:latin typeface="Agency FB" panose="020B0503020202020204" pitchFamily="34" charset="0"/>
                <a:cs typeface="Aharoni" panose="02010803020104030203" pitchFamily="2" charset="-79"/>
              </a:rPr>
              <a:t>Measures the total revenue generated from orders.</a:t>
            </a:r>
          </a:p>
          <a:p>
            <a:pPr marL="0" indent="0">
              <a:buNone/>
            </a:pPr>
            <a:r>
              <a:rPr lang="en-GB" sz="2000" b="1" dirty="0">
                <a:latin typeface="Agency FB" panose="020B0503020202020204" pitchFamily="34" charset="0"/>
                <a:cs typeface="Aharoni" panose="02010803020104030203" pitchFamily="2" charset="-79"/>
              </a:rPr>
              <a:t>2. Gross Margin % - </a:t>
            </a:r>
            <a:r>
              <a:rPr lang="en-GB" sz="2000" dirty="0">
                <a:latin typeface="Agency FB" panose="020B0503020202020204" pitchFamily="34" charset="0"/>
                <a:cs typeface="Aharoni" panose="02010803020104030203" pitchFamily="2" charset="-79"/>
              </a:rPr>
              <a:t>Measures the percentage of revenue remaining after the cost of goods sold.</a:t>
            </a:r>
          </a:p>
          <a:p>
            <a:pPr marL="0" indent="0">
              <a:buNone/>
            </a:pPr>
            <a:r>
              <a:rPr lang="en-GB" sz="2000" b="1" dirty="0">
                <a:latin typeface="Agency FB" panose="020B0503020202020204" pitchFamily="34" charset="0"/>
                <a:cs typeface="Aharoni" panose="02010803020104030203" pitchFamily="2" charset="-79"/>
              </a:rPr>
              <a:t>3. On-Time Delivery (OTD) % - </a:t>
            </a:r>
            <a:r>
              <a:rPr lang="en-GB" sz="2000" dirty="0">
                <a:latin typeface="Agency FB" panose="020B0503020202020204" pitchFamily="34" charset="0"/>
                <a:cs typeface="Aharoni" panose="02010803020104030203" pitchFamily="2" charset="-79"/>
              </a:rPr>
              <a:t>Measures the percentage of orders delivered on or before the promised date.</a:t>
            </a:r>
          </a:p>
          <a:p>
            <a:pPr marL="0" indent="0">
              <a:buNone/>
            </a:pPr>
            <a:r>
              <a:rPr lang="en-GB" sz="2000" b="1" dirty="0">
                <a:latin typeface="Agency FB" panose="020B0503020202020204" pitchFamily="34" charset="0"/>
                <a:cs typeface="Aharoni" panose="02010803020104030203" pitchFamily="2" charset="-79"/>
              </a:rPr>
              <a:t>4. Fill Rate % - </a:t>
            </a:r>
            <a:r>
              <a:rPr lang="en-GB" sz="2000" dirty="0">
                <a:latin typeface="Agency FB" panose="020B0503020202020204" pitchFamily="34" charset="0"/>
                <a:cs typeface="Aharoni" panose="02010803020104030203" pitchFamily="2" charset="-79"/>
              </a:rPr>
              <a:t>Measures the percentage of ordered quantities successfully fulfilled.</a:t>
            </a:r>
          </a:p>
          <a:p>
            <a:pPr marL="0" indent="0">
              <a:buNone/>
            </a:pPr>
            <a:r>
              <a:rPr lang="en-GB" sz="2000" b="1" dirty="0">
                <a:latin typeface="Agency FB" panose="020B0503020202020204" pitchFamily="34" charset="0"/>
                <a:cs typeface="Aharoni" panose="02010803020104030203" pitchFamily="2" charset="-79"/>
              </a:rPr>
              <a:t>5. Perfect Order Rate % - </a:t>
            </a:r>
            <a:r>
              <a:rPr lang="en-GB" sz="2000" dirty="0">
                <a:latin typeface="Agency FB" panose="020B0503020202020204" pitchFamily="34" charset="0"/>
                <a:cs typeface="Aharoni" panose="02010803020104030203" pitchFamily="2" charset="-79"/>
              </a:rPr>
              <a:t>Measures the percentage of orders completed without errors or delivery issues.</a:t>
            </a:r>
          </a:p>
          <a:p>
            <a:pPr marL="0" indent="0">
              <a:buNone/>
            </a:pPr>
            <a:r>
              <a:rPr lang="en-GB" sz="2000" b="1" dirty="0">
                <a:latin typeface="Agency FB" panose="020B0503020202020204" pitchFamily="34" charset="0"/>
                <a:cs typeface="Aharoni" panose="02010803020104030203" pitchFamily="2" charset="-79"/>
              </a:rPr>
              <a:t>6. Order Cycle Time - </a:t>
            </a:r>
            <a:r>
              <a:rPr lang="en-GB" sz="2000" dirty="0">
                <a:latin typeface="Agency FB" panose="020B0503020202020204" pitchFamily="34" charset="0"/>
                <a:cs typeface="Aharoni" panose="02010803020104030203" pitchFamily="2" charset="-79"/>
              </a:rPr>
              <a:t>Measures the time taken to complete an order from placement to delivery.</a:t>
            </a:r>
          </a:p>
          <a:p>
            <a:pPr marL="0" indent="0">
              <a:buNone/>
            </a:pPr>
            <a:r>
              <a:rPr lang="en-GB" sz="2000" b="1" dirty="0">
                <a:latin typeface="Agency FB" panose="020B0503020202020204" pitchFamily="34" charset="0"/>
                <a:cs typeface="Aharoni" panose="02010803020104030203" pitchFamily="2" charset="-79"/>
              </a:rPr>
              <a:t>7. Average Order Quantity - </a:t>
            </a:r>
            <a:r>
              <a:rPr lang="en-GB" sz="2000" dirty="0">
                <a:latin typeface="Agency FB" panose="020B0503020202020204" pitchFamily="34" charset="0"/>
                <a:cs typeface="Aharoni" panose="02010803020104030203" pitchFamily="2" charset="-79"/>
              </a:rPr>
              <a:t>Measures the average quantity ordered per order.</a:t>
            </a:r>
          </a:p>
          <a:p>
            <a:pPr marL="0" indent="0">
              <a:buNone/>
            </a:pPr>
            <a:r>
              <a:rPr lang="en-GB" sz="2000" b="1" dirty="0">
                <a:latin typeface="Agency FB" panose="020B0503020202020204" pitchFamily="34" charset="0"/>
                <a:cs typeface="Aharoni" panose="02010803020104030203" pitchFamily="2" charset="-79"/>
              </a:rPr>
              <a:t>8. Average Processing Time - </a:t>
            </a:r>
            <a:r>
              <a:rPr lang="en-GB" sz="2000" dirty="0">
                <a:latin typeface="Agency FB" panose="020B0503020202020204" pitchFamily="34" charset="0"/>
                <a:cs typeface="Aharoni" panose="02010803020104030203" pitchFamily="2" charset="-79"/>
              </a:rPr>
              <a:t>Measures the average time required to process an order.</a:t>
            </a:r>
          </a:p>
          <a:p>
            <a:pPr marL="0" indent="0">
              <a:buNone/>
            </a:pPr>
            <a:r>
              <a:rPr lang="en-GB" sz="2000" b="1" dirty="0">
                <a:latin typeface="Agency FB" panose="020B0503020202020204" pitchFamily="34" charset="0"/>
                <a:cs typeface="Aharoni" panose="02010803020104030203" pitchFamily="2" charset="-79"/>
              </a:rPr>
              <a:t>9. Average Delay - </a:t>
            </a:r>
            <a:r>
              <a:rPr lang="en-GB" sz="2000" dirty="0">
                <a:latin typeface="Agency FB" panose="020B0503020202020204" pitchFamily="34" charset="0"/>
                <a:cs typeface="Aharoni" panose="02010803020104030203" pitchFamily="2" charset="-79"/>
              </a:rPr>
              <a:t>Measures the average number of days by which delayed orders exceed the expected delivery date.</a:t>
            </a:r>
          </a:p>
          <a:p>
            <a:pPr marL="0" indent="0">
              <a:buNone/>
            </a:pPr>
            <a:r>
              <a:rPr lang="en-GB" sz="2000" b="1" dirty="0">
                <a:latin typeface="Agency FB" panose="020B0503020202020204" pitchFamily="34" charset="0"/>
                <a:cs typeface="Aharoni" panose="02010803020104030203" pitchFamily="2" charset="-79"/>
              </a:rPr>
              <a:t>10. Delayed Orders - </a:t>
            </a:r>
            <a:r>
              <a:rPr lang="en-GB" sz="2000" dirty="0">
                <a:latin typeface="Agency FB" panose="020B0503020202020204" pitchFamily="34" charset="0"/>
                <a:cs typeface="Aharoni" panose="02010803020104030203" pitchFamily="2" charset="-79"/>
              </a:rPr>
              <a:t>Measures the total number of orders that were delivered later than the promised date.</a:t>
            </a:r>
          </a:p>
        </p:txBody>
      </p:sp>
    </p:spTree>
    <p:extLst>
      <p:ext uri="{BB962C8B-B14F-4D97-AF65-F5344CB8AC3E}">
        <p14:creationId xmlns:p14="http://schemas.microsoft.com/office/powerpoint/2010/main" val="1300014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1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72E8C-3B2A-1D00-7441-CD4EEFE46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endParaRPr lang="en-GB" sz="68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794F2-20B2-27DE-6A7F-1EC7D95996A7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LargePlainText"/>
                  </p202:designTagLst>
                </p202:designPr>
              </p:ext>
            </p:extLst>
          </p:nvPr>
        </p:nvSpPr>
        <p:spPr>
          <a:xfrm>
            <a:off x="838200" y="2240280"/>
            <a:ext cx="10515600" cy="45643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b="1" dirty="0">
                <a:latin typeface="Agency FB" panose="020B0503020202020204" pitchFamily="34" charset="0"/>
              </a:rPr>
              <a:t>11. Cost of Goods Sold (COGS) - </a:t>
            </a:r>
            <a:r>
              <a:rPr lang="en-GB" sz="2000" dirty="0">
                <a:latin typeface="Agency FB" panose="020B0503020202020204" pitchFamily="34" charset="0"/>
              </a:rPr>
              <a:t>Measures the direct cost associated with the products sold.</a:t>
            </a:r>
          </a:p>
          <a:p>
            <a:pPr marL="0" indent="0">
              <a:buNone/>
            </a:pPr>
            <a:r>
              <a:rPr lang="en-GB" sz="2000" b="1" dirty="0">
                <a:latin typeface="Agency FB" panose="020B0503020202020204" pitchFamily="34" charset="0"/>
              </a:rPr>
              <a:t>12. Gross Profit - </a:t>
            </a:r>
            <a:r>
              <a:rPr lang="en-GB" sz="2000" dirty="0">
                <a:latin typeface="Agency FB" panose="020B0503020202020204" pitchFamily="34" charset="0"/>
              </a:rPr>
              <a:t>Measures the profit generated after deducting the cost of goods sold from revenue.</a:t>
            </a:r>
          </a:p>
          <a:p>
            <a:pPr marL="0" indent="0">
              <a:buNone/>
            </a:pPr>
            <a:r>
              <a:rPr lang="en-GB" sz="2000" b="1" dirty="0">
                <a:latin typeface="Agency FB" panose="020B0503020202020204" pitchFamily="34" charset="0"/>
              </a:rPr>
              <a:t>13. Shipping Cost - </a:t>
            </a:r>
            <a:r>
              <a:rPr lang="en-GB" sz="2000" dirty="0">
                <a:latin typeface="Agency FB" panose="020B0503020202020204" pitchFamily="34" charset="0"/>
              </a:rPr>
              <a:t>Measures the total cost incurred for shipping orders.</a:t>
            </a:r>
          </a:p>
          <a:p>
            <a:pPr marL="0" indent="0">
              <a:buNone/>
            </a:pPr>
            <a:r>
              <a:rPr lang="en-GB" sz="2000" b="1" dirty="0">
                <a:latin typeface="Agency FB" panose="020B0503020202020204" pitchFamily="34" charset="0"/>
              </a:rPr>
              <a:t>14. Revenue per Order - </a:t>
            </a:r>
            <a:r>
              <a:rPr lang="en-GB" sz="2000" dirty="0">
                <a:latin typeface="Agency FB" panose="020B0503020202020204" pitchFamily="34" charset="0"/>
              </a:rPr>
              <a:t>Measures the average revenue generated from each order.</a:t>
            </a:r>
          </a:p>
          <a:p>
            <a:pPr marL="0" indent="0">
              <a:buNone/>
            </a:pPr>
            <a:r>
              <a:rPr lang="en-GB" sz="2000" b="1" dirty="0">
                <a:latin typeface="Agency FB" panose="020B0503020202020204" pitchFamily="34" charset="0"/>
              </a:rPr>
              <a:t>15. Revenue Share % - </a:t>
            </a:r>
            <a:r>
              <a:rPr lang="en-GB" sz="2000" dirty="0">
                <a:latin typeface="Agency FB" panose="020B0503020202020204" pitchFamily="34" charset="0"/>
              </a:rPr>
              <a:t>Measures the percentage contribution of a region/customer/category to total revenue.</a:t>
            </a:r>
          </a:p>
          <a:p>
            <a:pPr marL="0" indent="0">
              <a:buNone/>
            </a:pPr>
            <a:r>
              <a:rPr lang="en-GB" sz="2000" b="1" dirty="0">
                <a:latin typeface="Agency FB" panose="020B0503020202020204" pitchFamily="34" charset="0"/>
              </a:rPr>
              <a:t>16. Average Transportation Time - </a:t>
            </a:r>
            <a:r>
              <a:rPr lang="en-GB" sz="2000" dirty="0">
                <a:latin typeface="Agency FB" panose="020B0503020202020204" pitchFamily="34" charset="0"/>
              </a:rPr>
              <a:t>Measures the average time taken for transportation and delivery.</a:t>
            </a:r>
          </a:p>
          <a:p>
            <a:pPr marL="0" indent="0">
              <a:buNone/>
            </a:pPr>
            <a:r>
              <a:rPr lang="en-GB" sz="2000" b="1" dirty="0">
                <a:latin typeface="Agency FB" panose="020B0503020202020204" pitchFamily="34" charset="0"/>
              </a:rPr>
              <a:t>17. Order Quantity - </a:t>
            </a:r>
            <a:r>
              <a:rPr lang="en-GB" sz="2000" dirty="0">
                <a:latin typeface="Agency FB" panose="020B0503020202020204" pitchFamily="34" charset="0"/>
              </a:rPr>
              <a:t>Measures the total quantity of products ordered.</a:t>
            </a:r>
          </a:p>
          <a:p>
            <a:pPr marL="0" indent="0">
              <a:buNone/>
            </a:pPr>
            <a:r>
              <a:rPr lang="en-GB" sz="2000" b="1" dirty="0">
                <a:latin typeface="Agency FB" panose="020B0503020202020204" pitchFamily="34" charset="0"/>
              </a:rPr>
              <a:t>18. Processing Days - </a:t>
            </a:r>
            <a:r>
              <a:rPr lang="en-GB" sz="2000" dirty="0">
                <a:latin typeface="Agency FB" panose="020B0503020202020204" pitchFamily="34" charset="0"/>
              </a:rPr>
              <a:t>Measures the number of days required to process an order. </a:t>
            </a:r>
          </a:p>
          <a:p>
            <a:pPr marL="0" indent="0">
              <a:buNone/>
            </a:pPr>
            <a:r>
              <a:rPr lang="en-GB" sz="2000" dirty="0">
                <a:latin typeface="Agency FB" panose="020B0503020202020204" pitchFamily="34" charset="0"/>
              </a:rPr>
              <a:t>1</a:t>
            </a:r>
            <a:r>
              <a:rPr lang="en-GB" sz="2000" b="1" dirty="0">
                <a:latin typeface="Agency FB" panose="020B0503020202020204" pitchFamily="34" charset="0"/>
              </a:rPr>
              <a:t>9. Delivery Performance - </a:t>
            </a:r>
            <a:r>
              <a:rPr lang="en-GB" sz="2000" dirty="0">
                <a:latin typeface="Agency FB" panose="020B0503020202020204" pitchFamily="34" charset="0"/>
              </a:rPr>
              <a:t>Evaluates the effectiveness of the delivery process based on delivery status and timing.</a:t>
            </a:r>
          </a:p>
          <a:p>
            <a:pPr marL="0" indent="0">
              <a:buNone/>
            </a:pPr>
            <a:r>
              <a:rPr lang="en-GB" sz="2000" b="1" dirty="0">
                <a:latin typeface="Agency FB" panose="020B0503020202020204" pitchFamily="34" charset="0"/>
              </a:rPr>
              <a:t>20. Customer/Regional Revenue - </a:t>
            </a:r>
            <a:r>
              <a:rPr lang="en-GB" sz="2000" dirty="0">
                <a:latin typeface="Agency FB" panose="020B0503020202020204" pitchFamily="34" charset="0"/>
              </a:rPr>
              <a:t>Measures revenue contribution across different customers and geographical regions.</a:t>
            </a:r>
            <a:endParaRPr lang="en-GB" sz="2000" b="1" dirty="0">
              <a:latin typeface="Agency FB" panose="020B0503020202020204" pitchFamily="34" charset="0"/>
            </a:endParaRPr>
          </a:p>
          <a:p>
            <a:pPr indent="0">
              <a:buNone/>
            </a:pPr>
            <a:endParaRPr lang="en-GB" sz="200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8447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1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1ED0A3-3EAE-7E80-C8CE-10DF05980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 fontScale="90000"/>
          </a:bodyPr>
          <a:lstStyle/>
          <a:p>
            <a:r>
              <a:rPr lang="en-GB" sz="68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DASHBOARD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FAA01-48B5-AC4C-2740-1C7E2423C27E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LargePlainText"/>
                  </p202:designTagLst>
                </p202:designPr>
              </p:ext>
            </p:extLst>
          </p:nvPr>
        </p:nvSpPr>
        <p:spPr>
          <a:xfrm>
            <a:off x="838200" y="2347414"/>
            <a:ext cx="10515600" cy="410936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b="1" dirty="0">
                <a:latin typeface="Agency FB" panose="020B0503020202020204" pitchFamily="34" charset="0"/>
              </a:rPr>
              <a:t>EXCEL DASHBOARD</a:t>
            </a:r>
          </a:p>
          <a:p>
            <a:r>
              <a:rPr lang="en-GB" sz="2000" dirty="0">
                <a:latin typeface="Agency FB" panose="020B0503020202020204" pitchFamily="34" charset="0"/>
              </a:rPr>
              <a:t>The Excel dashboard provides an overview of key supply-chain performance indicators through KPI cards, charts and interactive analysis.</a:t>
            </a:r>
          </a:p>
          <a:p>
            <a:pPr marL="0" indent="0">
              <a:buNone/>
            </a:pPr>
            <a:r>
              <a:rPr lang="en-GB" sz="2000" b="1" dirty="0">
                <a:latin typeface="Agency FB" panose="020B0503020202020204" pitchFamily="34" charset="0"/>
              </a:rPr>
              <a:t>Key Analysis:</a:t>
            </a:r>
            <a:endParaRPr lang="en-GB" sz="2000" dirty="0">
              <a:latin typeface="Agency FB" panose="020B0503020202020204" pitchFamily="34" charset="0"/>
            </a:endParaRPr>
          </a:p>
          <a:p>
            <a:pPr lvl="0"/>
            <a:r>
              <a:rPr lang="en-GB" sz="2000" dirty="0">
                <a:latin typeface="Agency FB" panose="020B0503020202020204" pitchFamily="34" charset="0"/>
              </a:rPr>
              <a:t>Revenue performance </a:t>
            </a:r>
          </a:p>
          <a:p>
            <a:pPr lvl="0"/>
            <a:r>
              <a:rPr lang="en-GB" sz="2000" dirty="0">
                <a:latin typeface="Agency FB" panose="020B0503020202020204" pitchFamily="34" charset="0"/>
              </a:rPr>
              <a:t>Delivery performance </a:t>
            </a:r>
          </a:p>
          <a:p>
            <a:pPr lvl="0"/>
            <a:r>
              <a:rPr lang="en-GB" sz="2000" dirty="0">
                <a:latin typeface="Agency FB" panose="020B0503020202020204" pitchFamily="34" charset="0"/>
              </a:rPr>
              <a:t>Order performance </a:t>
            </a:r>
          </a:p>
          <a:p>
            <a:pPr lvl="0"/>
            <a:r>
              <a:rPr lang="en-GB" sz="2000" dirty="0">
                <a:latin typeface="Agency FB" panose="020B0503020202020204" pitchFamily="34" charset="0"/>
              </a:rPr>
              <a:t>Regional analysis </a:t>
            </a:r>
          </a:p>
          <a:p>
            <a:pPr lvl="0"/>
            <a:r>
              <a:rPr lang="en-GB" sz="2000" dirty="0">
                <a:latin typeface="Agency FB" panose="020B0503020202020204" pitchFamily="34" charset="0"/>
              </a:rPr>
              <a:t>Monthly trends</a:t>
            </a:r>
          </a:p>
          <a:p>
            <a:pPr indent="0">
              <a:buNone/>
            </a:pPr>
            <a:endParaRPr lang="en-GB" sz="200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556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A381740-063A-41A4-836D-85D14980E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E85A4-C2F3-39F2-9B24-9649164F9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75997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EXCEL DASHBOARDS</a:t>
            </a:r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27432"/>
          </a:xfrm>
          <a:custGeom>
            <a:avLst/>
            <a:gdLst>
              <a:gd name="csX0" fmla="*/ 0 w 3291840"/>
              <a:gd name="csY0" fmla="*/ 0 h 27432"/>
              <a:gd name="csX1" fmla="*/ 625450 w 3291840"/>
              <a:gd name="csY1" fmla="*/ 0 h 27432"/>
              <a:gd name="csX2" fmla="*/ 1283818 w 3291840"/>
              <a:gd name="csY2" fmla="*/ 0 h 27432"/>
              <a:gd name="csX3" fmla="*/ 1975104 w 3291840"/>
              <a:gd name="csY3" fmla="*/ 0 h 27432"/>
              <a:gd name="csX4" fmla="*/ 2666390 w 3291840"/>
              <a:gd name="csY4" fmla="*/ 0 h 27432"/>
              <a:gd name="csX5" fmla="*/ 3291840 w 3291840"/>
              <a:gd name="csY5" fmla="*/ 0 h 27432"/>
              <a:gd name="csX6" fmla="*/ 3291840 w 3291840"/>
              <a:gd name="csY6" fmla="*/ 27432 h 27432"/>
              <a:gd name="csX7" fmla="*/ 2567635 w 3291840"/>
              <a:gd name="csY7" fmla="*/ 27432 h 27432"/>
              <a:gd name="csX8" fmla="*/ 1843430 w 3291840"/>
              <a:gd name="csY8" fmla="*/ 27432 h 27432"/>
              <a:gd name="csX9" fmla="*/ 1185062 w 3291840"/>
              <a:gd name="csY9" fmla="*/ 27432 h 27432"/>
              <a:gd name="csX10" fmla="*/ 0 w 3291840"/>
              <a:gd name="csY10" fmla="*/ 27432 h 27432"/>
              <a:gd name="csX11" fmla="*/ 0 w 3291840"/>
              <a:gd name="csY11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91840" h="27432" fill="none" extrusionOk="0">
                <a:moveTo>
                  <a:pt x="0" y="0"/>
                </a:moveTo>
                <a:cubicBezTo>
                  <a:pt x="173613" y="5552"/>
                  <a:pt x="489242" y="1770"/>
                  <a:pt x="625450" y="0"/>
                </a:cubicBezTo>
                <a:cubicBezTo>
                  <a:pt x="761658" y="-1770"/>
                  <a:pt x="1015131" y="32079"/>
                  <a:pt x="1283818" y="0"/>
                </a:cubicBezTo>
                <a:cubicBezTo>
                  <a:pt x="1552505" y="-32079"/>
                  <a:pt x="1752773" y="10771"/>
                  <a:pt x="1975104" y="0"/>
                </a:cubicBezTo>
                <a:cubicBezTo>
                  <a:pt x="2197435" y="-10771"/>
                  <a:pt x="2433070" y="21341"/>
                  <a:pt x="2666390" y="0"/>
                </a:cubicBezTo>
                <a:cubicBezTo>
                  <a:pt x="2899710" y="-21341"/>
                  <a:pt x="3028437" y="16612"/>
                  <a:pt x="3291840" y="0"/>
                </a:cubicBezTo>
                <a:cubicBezTo>
                  <a:pt x="3290674" y="7395"/>
                  <a:pt x="3291885" y="21864"/>
                  <a:pt x="3291840" y="27432"/>
                </a:cubicBezTo>
                <a:cubicBezTo>
                  <a:pt x="3043276" y="47012"/>
                  <a:pt x="2921041" y="-3764"/>
                  <a:pt x="2567635" y="27432"/>
                </a:cubicBezTo>
                <a:cubicBezTo>
                  <a:pt x="2214230" y="58628"/>
                  <a:pt x="2189623" y="-3875"/>
                  <a:pt x="1843430" y="27432"/>
                </a:cubicBezTo>
                <a:cubicBezTo>
                  <a:pt x="1497237" y="58739"/>
                  <a:pt x="1492584" y="38324"/>
                  <a:pt x="1185062" y="27432"/>
                </a:cubicBezTo>
                <a:cubicBezTo>
                  <a:pt x="877540" y="16540"/>
                  <a:pt x="313238" y="55587"/>
                  <a:pt x="0" y="27432"/>
                </a:cubicBezTo>
                <a:cubicBezTo>
                  <a:pt x="-503" y="20663"/>
                  <a:pt x="1168" y="5855"/>
                  <a:pt x="0" y="0"/>
                </a:cubicBezTo>
                <a:close/>
              </a:path>
              <a:path w="3291840" h="27432" stroke="0" extrusionOk="0">
                <a:moveTo>
                  <a:pt x="0" y="0"/>
                </a:moveTo>
                <a:cubicBezTo>
                  <a:pt x="281971" y="23935"/>
                  <a:pt x="485873" y="-14021"/>
                  <a:pt x="625450" y="0"/>
                </a:cubicBezTo>
                <a:cubicBezTo>
                  <a:pt x="765027" y="14021"/>
                  <a:pt x="1048900" y="27914"/>
                  <a:pt x="1185062" y="0"/>
                </a:cubicBezTo>
                <a:cubicBezTo>
                  <a:pt x="1321224" y="-27914"/>
                  <a:pt x="1648252" y="-3988"/>
                  <a:pt x="1909267" y="0"/>
                </a:cubicBezTo>
                <a:cubicBezTo>
                  <a:pt x="2170282" y="3988"/>
                  <a:pt x="2301957" y="25891"/>
                  <a:pt x="2534717" y="0"/>
                </a:cubicBezTo>
                <a:cubicBezTo>
                  <a:pt x="2767477" y="-25891"/>
                  <a:pt x="3078800" y="21500"/>
                  <a:pt x="3291840" y="0"/>
                </a:cubicBezTo>
                <a:cubicBezTo>
                  <a:pt x="3292033" y="12649"/>
                  <a:pt x="3290852" y="17989"/>
                  <a:pt x="3291840" y="27432"/>
                </a:cubicBezTo>
                <a:cubicBezTo>
                  <a:pt x="3120474" y="24858"/>
                  <a:pt x="2816568" y="13777"/>
                  <a:pt x="2633472" y="27432"/>
                </a:cubicBezTo>
                <a:cubicBezTo>
                  <a:pt x="2450376" y="41087"/>
                  <a:pt x="2160769" y="46494"/>
                  <a:pt x="1909267" y="27432"/>
                </a:cubicBezTo>
                <a:cubicBezTo>
                  <a:pt x="1657765" y="8370"/>
                  <a:pt x="1623992" y="18792"/>
                  <a:pt x="1349654" y="27432"/>
                </a:cubicBezTo>
                <a:cubicBezTo>
                  <a:pt x="1075316" y="36072"/>
                  <a:pt x="833426" y="43325"/>
                  <a:pt x="691286" y="27432"/>
                </a:cubicBezTo>
                <a:cubicBezTo>
                  <a:pt x="549146" y="11539"/>
                  <a:pt x="342011" y="33345"/>
                  <a:pt x="0" y="27432"/>
                </a:cubicBezTo>
                <a:cubicBezTo>
                  <a:pt x="1300" y="19678"/>
                  <a:pt x="-86" y="12044"/>
                  <a:pt x="0" y="0"/>
                </a:cubicBezTo>
                <a:close/>
              </a:path>
            </a:pathLst>
          </a:custGeom>
          <a:solidFill>
            <a:srgbClr val="2B7AD6"/>
          </a:solidFill>
          <a:ln w="38100" cap="rnd">
            <a:solidFill>
              <a:srgbClr val="2B7AD6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B019AE-4F3D-36EE-9E30-9491F1300A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" y="2709459"/>
            <a:ext cx="5614416" cy="3761658"/>
          </a:xfrm>
          <a:prstGeom prst="rect">
            <a:avLst/>
          </a:prstGeom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6F03CF3-86E1-3789-73D7-6862100594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54495" y="2709459"/>
            <a:ext cx="5723139" cy="3761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058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1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73B746-EE59-CA11-547E-0D894E431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 fontScale="90000"/>
          </a:bodyPr>
          <a:lstStyle/>
          <a:p>
            <a:r>
              <a:rPr lang="en-GB" sz="68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DASHBOARD VISUALIZATION</a:t>
            </a:r>
            <a:endParaRPr lang="en-GB" sz="68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1F33D-D534-A3D1-84FA-36F712488085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LargePlainText"/>
                  </p202:designTagLst>
                </p202:designPr>
              </p:ext>
            </p:extLst>
          </p:nvPr>
        </p:nvSpPr>
        <p:spPr>
          <a:xfrm>
            <a:off x="838200" y="2586789"/>
            <a:ext cx="10515600" cy="359017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b="1" dirty="0">
                <a:latin typeface="Agency FB" panose="020B0503020202020204" pitchFamily="34" charset="0"/>
              </a:rPr>
              <a:t>TABLEAU DASHBOARD</a:t>
            </a:r>
          </a:p>
          <a:p>
            <a:r>
              <a:rPr lang="en-GB" sz="2400" dirty="0">
                <a:latin typeface="Agency FB" panose="020B0503020202020204" pitchFamily="34" charset="0"/>
              </a:rPr>
              <a:t>The Tableau dashboard provides interactive analysis of:</a:t>
            </a:r>
          </a:p>
          <a:p>
            <a:pPr lvl="0"/>
            <a:r>
              <a:rPr lang="en-GB" sz="2400" dirty="0">
                <a:latin typeface="Agency FB" panose="020B0503020202020204" pitchFamily="34" charset="0"/>
              </a:rPr>
              <a:t>Revenue by customer region </a:t>
            </a:r>
          </a:p>
          <a:p>
            <a:pPr lvl="0"/>
            <a:r>
              <a:rPr lang="en-GB" sz="2400" dirty="0">
                <a:latin typeface="Agency FB" panose="020B0503020202020204" pitchFamily="34" charset="0"/>
              </a:rPr>
              <a:t>Revenue by customer country </a:t>
            </a:r>
          </a:p>
          <a:p>
            <a:pPr lvl="0"/>
            <a:r>
              <a:rPr lang="en-GB" sz="2400" dirty="0">
                <a:latin typeface="Agency FB" panose="020B0503020202020204" pitchFamily="34" charset="0"/>
              </a:rPr>
              <a:t>Monthly revenue trend </a:t>
            </a:r>
          </a:p>
          <a:p>
            <a:pPr lvl="0"/>
            <a:r>
              <a:rPr lang="en-GB" sz="2400" dirty="0">
                <a:latin typeface="Agency FB" panose="020B0503020202020204" pitchFamily="34" charset="0"/>
              </a:rPr>
              <a:t>Revenue distribution </a:t>
            </a:r>
          </a:p>
          <a:p>
            <a:pPr lvl="0"/>
            <a:r>
              <a:rPr lang="en-GB" sz="2400" dirty="0">
                <a:latin typeface="Agency FB" panose="020B0503020202020204" pitchFamily="34" charset="0"/>
              </a:rPr>
              <a:t>Geographical performance</a:t>
            </a:r>
          </a:p>
          <a:p>
            <a:pPr indent="0">
              <a:buNone/>
            </a:pPr>
            <a:endParaRPr lang="en-GB" sz="240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061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2AB3A-4253-09F6-46DA-EE6E95DD9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TABLEAU DASHBOARDS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F339F68-D43D-2CCF-68BA-BCB724BBD0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047" y="1908716"/>
            <a:ext cx="5909954" cy="42529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FF7764-CC75-EC6F-EC8C-6B25010A1C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736" y="1908715"/>
            <a:ext cx="5826217" cy="425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62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EBBF23-9DC6-5CE2-3915-0BC24E1EF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85E0BB-A0E0-A0A9-2BF9-537B02654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47BE04C-9903-0402-52BA-53FCDBA46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1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FBB25E-F8DD-18B5-590C-72C49B978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 fontScale="90000"/>
          </a:bodyPr>
          <a:lstStyle/>
          <a:p>
            <a:r>
              <a:rPr lang="en-GB" sz="68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DASHBOARD VISUALIZATION</a:t>
            </a:r>
            <a:endParaRPr lang="en-GB" sz="68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39DBD-E039-0216-84AE-0C9C44A4B144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LargePlainText"/>
                  </p202:designTagLst>
                </p202:designPr>
              </p:ext>
            </p:extLst>
          </p:nvPr>
        </p:nvSpPr>
        <p:spPr>
          <a:xfrm>
            <a:off x="621890" y="2150506"/>
            <a:ext cx="10515600" cy="47074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b="1" dirty="0">
                <a:latin typeface="Agency FB" panose="020B0503020202020204" pitchFamily="34" charset="0"/>
              </a:rPr>
              <a:t>POWER BI DASHBOARD</a:t>
            </a:r>
          </a:p>
          <a:p>
            <a:pPr indent="0">
              <a:buNone/>
            </a:pPr>
            <a:r>
              <a:rPr lang="en-GB" sz="2400" dirty="0">
                <a:latin typeface="Agency FB" panose="020B0503020202020204" pitchFamily="34" charset="0"/>
              </a:rPr>
              <a:t>The Power BI dashboard provides an interactive executive-level view of overall supply-chain </a:t>
            </a:r>
            <a:r>
              <a:rPr lang="en-GB" sz="2400" dirty="0" err="1">
                <a:latin typeface="Agency FB" panose="020B0503020202020204" pitchFamily="34" charset="0"/>
              </a:rPr>
              <a:t>performanc</a:t>
            </a:r>
            <a:endParaRPr lang="en-GB" sz="2400" dirty="0">
              <a:latin typeface="Agency FB" panose="020B0503020202020204" pitchFamily="34" charset="0"/>
            </a:endParaRPr>
          </a:p>
          <a:p>
            <a:r>
              <a:rPr lang="en-GB" sz="2400" b="1" dirty="0">
                <a:latin typeface="Agency FB" panose="020B0503020202020204" pitchFamily="34" charset="0"/>
              </a:rPr>
              <a:t>KEY ANALYSIS</a:t>
            </a:r>
          </a:p>
          <a:p>
            <a:pPr lvl="0"/>
            <a:r>
              <a:rPr lang="en-GB" sz="2400" dirty="0">
                <a:latin typeface="Agency FB" panose="020B0503020202020204" pitchFamily="34" charset="0"/>
              </a:rPr>
              <a:t>Monthly Revenue Trend </a:t>
            </a:r>
          </a:p>
          <a:p>
            <a:pPr lvl="0"/>
            <a:r>
              <a:rPr lang="en-GB" sz="2400" dirty="0">
                <a:latin typeface="Agency FB" panose="020B0503020202020204" pitchFamily="34" charset="0"/>
              </a:rPr>
              <a:t>Revenue Share by Region </a:t>
            </a:r>
          </a:p>
          <a:p>
            <a:pPr lvl="0"/>
            <a:r>
              <a:rPr lang="en-GB" sz="2400" dirty="0">
                <a:latin typeface="Agency FB" panose="020B0503020202020204" pitchFamily="34" charset="0"/>
              </a:rPr>
              <a:t>Revenue by Customer Country </a:t>
            </a:r>
          </a:p>
          <a:p>
            <a:pPr lvl="0"/>
            <a:r>
              <a:rPr lang="en-GB" sz="2400" dirty="0">
                <a:latin typeface="Agency FB" panose="020B0503020202020204" pitchFamily="34" charset="0"/>
              </a:rPr>
              <a:t>Customer Region Slicer </a:t>
            </a:r>
          </a:p>
          <a:p>
            <a:pPr lvl="0"/>
            <a:r>
              <a:rPr lang="en-GB" sz="2400" dirty="0">
                <a:latin typeface="Agency FB" panose="020B0503020202020204" pitchFamily="34" charset="0"/>
              </a:rPr>
              <a:t>Order Date Slicer </a:t>
            </a:r>
          </a:p>
          <a:p>
            <a:pPr lvl="0"/>
            <a:r>
              <a:rPr lang="en-GB" sz="2400" dirty="0">
                <a:latin typeface="Agency FB" panose="020B0503020202020204" pitchFamily="34" charset="0"/>
              </a:rPr>
              <a:t>Revenue Slicer</a:t>
            </a:r>
          </a:p>
          <a:p>
            <a:pPr indent="0">
              <a:buNone/>
            </a:pPr>
            <a:endParaRPr lang="en-GB" sz="240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00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2C159D-6BC9-4306-EEDA-EDBC73502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7BC2012-240C-C4DD-439A-9EAF4B8C8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85AA008-DBAC-8005-F528-C32510F5D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31EC7B-21A0-FA05-4914-5CA3915A1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75997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POWER BI DASHBOARDS</a:t>
            </a:r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B193D4E8-C664-AE77-33BD-29E4A08E7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27432"/>
          </a:xfrm>
          <a:custGeom>
            <a:avLst/>
            <a:gdLst>
              <a:gd name="csX0" fmla="*/ 0 w 3291840"/>
              <a:gd name="csY0" fmla="*/ 0 h 27432"/>
              <a:gd name="csX1" fmla="*/ 625450 w 3291840"/>
              <a:gd name="csY1" fmla="*/ 0 h 27432"/>
              <a:gd name="csX2" fmla="*/ 1283818 w 3291840"/>
              <a:gd name="csY2" fmla="*/ 0 h 27432"/>
              <a:gd name="csX3" fmla="*/ 1975104 w 3291840"/>
              <a:gd name="csY3" fmla="*/ 0 h 27432"/>
              <a:gd name="csX4" fmla="*/ 2666390 w 3291840"/>
              <a:gd name="csY4" fmla="*/ 0 h 27432"/>
              <a:gd name="csX5" fmla="*/ 3291840 w 3291840"/>
              <a:gd name="csY5" fmla="*/ 0 h 27432"/>
              <a:gd name="csX6" fmla="*/ 3291840 w 3291840"/>
              <a:gd name="csY6" fmla="*/ 27432 h 27432"/>
              <a:gd name="csX7" fmla="*/ 2567635 w 3291840"/>
              <a:gd name="csY7" fmla="*/ 27432 h 27432"/>
              <a:gd name="csX8" fmla="*/ 1843430 w 3291840"/>
              <a:gd name="csY8" fmla="*/ 27432 h 27432"/>
              <a:gd name="csX9" fmla="*/ 1185062 w 3291840"/>
              <a:gd name="csY9" fmla="*/ 27432 h 27432"/>
              <a:gd name="csX10" fmla="*/ 0 w 3291840"/>
              <a:gd name="csY10" fmla="*/ 27432 h 27432"/>
              <a:gd name="csX11" fmla="*/ 0 w 3291840"/>
              <a:gd name="csY11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91840" h="27432" fill="none" extrusionOk="0">
                <a:moveTo>
                  <a:pt x="0" y="0"/>
                </a:moveTo>
                <a:cubicBezTo>
                  <a:pt x="173613" y="5552"/>
                  <a:pt x="489242" y="1770"/>
                  <a:pt x="625450" y="0"/>
                </a:cubicBezTo>
                <a:cubicBezTo>
                  <a:pt x="761658" y="-1770"/>
                  <a:pt x="1015131" y="32079"/>
                  <a:pt x="1283818" y="0"/>
                </a:cubicBezTo>
                <a:cubicBezTo>
                  <a:pt x="1552505" y="-32079"/>
                  <a:pt x="1752773" y="10771"/>
                  <a:pt x="1975104" y="0"/>
                </a:cubicBezTo>
                <a:cubicBezTo>
                  <a:pt x="2197435" y="-10771"/>
                  <a:pt x="2433070" y="21341"/>
                  <a:pt x="2666390" y="0"/>
                </a:cubicBezTo>
                <a:cubicBezTo>
                  <a:pt x="2899710" y="-21341"/>
                  <a:pt x="3028437" y="16612"/>
                  <a:pt x="3291840" y="0"/>
                </a:cubicBezTo>
                <a:cubicBezTo>
                  <a:pt x="3290674" y="7395"/>
                  <a:pt x="3291885" y="21864"/>
                  <a:pt x="3291840" y="27432"/>
                </a:cubicBezTo>
                <a:cubicBezTo>
                  <a:pt x="3043276" y="47012"/>
                  <a:pt x="2921041" y="-3764"/>
                  <a:pt x="2567635" y="27432"/>
                </a:cubicBezTo>
                <a:cubicBezTo>
                  <a:pt x="2214230" y="58628"/>
                  <a:pt x="2189623" y="-3875"/>
                  <a:pt x="1843430" y="27432"/>
                </a:cubicBezTo>
                <a:cubicBezTo>
                  <a:pt x="1497237" y="58739"/>
                  <a:pt x="1492584" y="38324"/>
                  <a:pt x="1185062" y="27432"/>
                </a:cubicBezTo>
                <a:cubicBezTo>
                  <a:pt x="877540" y="16540"/>
                  <a:pt x="313238" y="55587"/>
                  <a:pt x="0" y="27432"/>
                </a:cubicBezTo>
                <a:cubicBezTo>
                  <a:pt x="-503" y="20663"/>
                  <a:pt x="1168" y="5855"/>
                  <a:pt x="0" y="0"/>
                </a:cubicBezTo>
                <a:close/>
              </a:path>
              <a:path w="3291840" h="27432" stroke="0" extrusionOk="0">
                <a:moveTo>
                  <a:pt x="0" y="0"/>
                </a:moveTo>
                <a:cubicBezTo>
                  <a:pt x="281971" y="23935"/>
                  <a:pt x="485873" y="-14021"/>
                  <a:pt x="625450" y="0"/>
                </a:cubicBezTo>
                <a:cubicBezTo>
                  <a:pt x="765027" y="14021"/>
                  <a:pt x="1048900" y="27914"/>
                  <a:pt x="1185062" y="0"/>
                </a:cubicBezTo>
                <a:cubicBezTo>
                  <a:pt x="1321224" y="-27914"/>
                  <a:pt x="1648252" y="-3988"/>
                  <a:pt x="1909267" y="0"/>
                </a:cubicBezTo>
                <a:cubicBezTo>
                  <a:pt x="2170282" y="3988"/>
                  <a:pt x="2301957" y="25891"/>
                  <a:pt x="2534717" y="0"/>
                </a:cubicBezTo>
                <a:cubicBezTo>
                  <a:pt x="2767477" y="-25891"/>
                  <a:pt x="3078800" y="21500"/>
                  <a:pt x="3291840" y="0"/>
                </a:cubicBezTo>
                <a:cubicBezTo>
                  <a:pt x="3292033" y="12649"/>
                  <a:pt x="3290852" y="17989"/>
                  <a:pt x="3291840" y="27432"/>
                </a:cubicBezTo>
                <a:cubicBezTo>
                  <a:pt x="3120474" y="24858"/>
                  <a:pt x="2816568" y="13777"/>
                  <a:pt x="2633472" y="27432"/>
                </a:cubicBezTo>
                <a:cubicBezTo>
                  <a:pt x="2450376" y="41087"/>
                  <a:pt x="2160769" y="46494"/>
                  <a:pt x="1909267" y="27432"/>
                </a:cubicBezTo>
                <a:cubicBezTo>
                  <a:pt x="1657765" y="8370"/>
                  <a:pt x="1623992" y="18792"/>
                  <a:pt x="1349654" y="27432"/>
                </a:cubicBezTo>
                <a:cubicBezTo>
                  <a:pt x="1075316" y="36072"/>
                  <a:pt x="833426" y="43325"/>
                  <a:pt x="691286" y="27432"/>
                </a:cubicBezTo>
                <a:cubicBezTo>
                  <a:pt x="549146" y="11539"/>
                  <a:pt x="342011" y="33345"/>
                  <a:pt x="0" y="27432"/>
                </a:cubicBezTo>
                <a:cubicBezTo>
                  <a:pt x="1300" y="19678"/>
                  <a:pt x="-86" y="12044"/>
                  <a:pt x="0" y="0"/>
                </a:cubicBezTo>
                <a:close/>
              </a:path>
            </a:pathLst>
          </a:custGeom>
          <a:solidFill>
            <a:srgbClr val="2B7AD6"/>
          </a:solidFill>
          <a:ln w="38100" cap="rnd">
            <a:solidFill>
              <a:srgbClr val="2B7AD6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BA6F15D-33FE-B319-554D-D2FBBE5F4F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039345"/>
            <a:ext cx="5928527" cy="42529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D7D071-CF47-ECA0-86CE-732E0A5128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8527" y="2039344"/>
            <a:ext cx="6083081" cy="425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759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300D23-7ED4-C520-45C7-0A0A58C7C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7E58FAE-D831-7933-D8FB-A8B1908D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E9D0DDC-748F-BAA7-E06F-DB4FA47928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1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5C61E1-CC6D-D533-7F3D-59B44FAB5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 fontScale="90000"/>
          </a:bodyPr>
          <a:lstStyle/>
          <a:p>
            <a:r>
              <a:rPr lang="en-GB" sz="72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MYSQL QUERIES &amp; ANALYSIS</a:t>
            </a:r>
            <a:endParaRPr lang="en-GB" sz="6800" dirty="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83133-2480-9859-E514-C491978797EA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LargePlainText"/>
                  </p202:designTagLst>
                </p202:designPr>
              </p:ext>
            </p:extLst>
          </p:nvPr>
        </p:nvSpPr>
        <p:spPr>
          <a:xfrm>
            <a:off x="621890" y="2150506"/>
            <a:ext cx="10515600" cy="47074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b="1" dirty="0">
                <a:latin typeface="Agency FB" panose="020B0503020202020204" pitchFamily="34" charset="0"/>
              </a:rPr>
              <a:t>MYSQL — DATA ANALYSIS</a:t>
            </a:r>
          </a:p>
          <a:p>
            <a:pPr marL="0" indent="0">
              <a:buNone/>
            </a:pPr>
            <a:r>
              <a:rPr lang="en-GB" sz="2400" dirty="0">
                <a:latin typeface="Agency FB" panose="020B0503020202020204" pitchFamily="34" charset="0"/>
              </a:rPr>
              <a:t>MySQL was used to extract, aggregate and </a:t>
            </a:r>
            <a:r>
              <a:rPr lang="en-GB" sz="2400" dirty="0" err="1">
                <a:latin typeface="Agency FB" panose="020B0503020202020204" pitchFamily="34" charset="0"/>
              </a:rPr>
              <a:t>analyze</a:t>
            </a:r>
            <a:r>
              <a:rPr lang="en-GB" sz="2400" dirty="0">
                <a:latin typeface="Agency FB" panose="020B0503020202020204" pitchFamily="34" charset="0"/>
              </a:rPr>
              <a:t> the data required for KPI calculation and dashboard development.</a:t>
            </a:r>
          </a:p>
          <a:p>
            <a:pPr marL="0" indent="0">
              <a:buNone/>
            </a:pPr>
            <a:r>
              <a:rPr lang="en-GB" sz="2400" b="1" dirty="0">
                <a:latin typeface="Agency FB" panose="020B0503020202020204" pitchFamily="34" charset="0"/>
              </a:rPr>
              <a:t>KEY SQL OPERATIONS</a:t>
            </a:r>
          </a:p>
          <a:p>
            <a:pPr marL="0" indent="0">
              <a:buNone/>
            </a:pPr>
            <a:r>
              <a:rPr lang="en-GB" sz="2400" b="1" dirty="0">
                <a:latin typeface="Agency FB" panose="020B0503020202020204" pitchFamily="34" charset="0"/>
              </a:rPr>
              <a:t>SELECT</a:t>
            </a:r>
            <a:r>
              <a:rPr lang="en-GB" sz="2400" dirty="0">
                <a:latin typeface="Agency FB" panose="020B0503020202020204" pitchFamily="34" charset="0"/>
              </a:rPr>
              <a:t> – Retrieve required data</a:t>
            </a:r>
            <a:br>
              <a:rPr lang="en-GB" sz="2400" dirty="0">
                <a:latin typeface="Agency FB" panose="020B0503020202020204" pitchFamily="34" charset="0"/>
              </a:rPr>
            </a:br>
            <a:r>
              <a:rPr lang="en-GB" sz="2400" b="1" dirty="0">
                <a:latin typeface="Agency FB" panose="020B0503020202020204" pitchFamily="34" charset="0"/>
              </a:rPr>
              <a:t>WHERE</a:t>
            </a:r>
            <a:r>
              <a:rPr lang="en-GB" sz="2400" dirty="0">
                <a:latin typeface="Agency FB" panose="020B0503020202020204" pitchFamily="34" charset="0"/>
              </a:rPr>
              <a:t> – Filter records</a:t>
            </a:r>
            <a:br>
              <a:rPr lang="en-GB" sz="2400" dirty="0">
                <a:latin typeface="Agency FB" panose="020B0503020202020204" pitchFamily="34" charset="0"/>
              </a:rPr>
            </a:br>
            <a:r>
              <a:rPr lang="en-GB" sz="2400" b="1" dirty="0">
                <a:latin typeface="Agency FB" panose="020B0503020202020204" pitchFamily="34" charset="0"/>
              </a:rPr>
              <a:t>JOIN</a:t>
            </a:r>
            <a:r>
              <a:rPr lang="en-GB" sz="2400" dirty="0">
                <a:latin typeface="Agency FB" panose="020B0503020202020204" pitchFamily="34" charset="0"/>
              </a:rPr>
              <a:t> – Combine related tables</a:t>
            </a:r>
            <a:br>
              <a:rPr lang="en-GB" sz="2400" dirty="0">
                <a:latin typeface="Agency FB" panose="020B0503020202020204" pitchFamily="34" charset="0"/>
              </a:rPr>
            </a:br>
            <a:r>
              <a:rPr lang="en-GB" sz="2400" b="1" dirty="0">
                <a:latin typeface="Agency FB" panose="020B0503020202020204" pitchFamily="34" charset="0"/>
              </a:rPr>
              <a:t>GROUP BY</a:t>
            </a:r>
            <a:r>
              <a:rPr lang="en-GB" sz="2400" dirty="0">
                <a:latin typeface="Agency FB" panose="020B0503020202020204" pitchFamily="34" charset="0"/>
              </a:rPr>
              <a:t> – Aggregate data by categories</a:t>
            </a:r>
            <a:br>
              <a:rPr lang="en-GB" sz="2400" dirty="0">
                <a:latin typeface="Agency FB" panose="020B0503020202020204" pitchFamily="34" charset="0"/>
              </a:rPr>
            </a:br>
            <a:r>
              <a:rPr lang="en-GB" sz="2400" b="1" dirty="0">
                <a:latin typeface="Agency FB" panose="020B0503020202020204" pitchFamily="34" charset="0"/>
              </a:rPr>
              <a:t>ORDER BY</a:t>
            </a:r>
            <a:r>
              <a:rPr lang="en-GB" sz="2400" dirty="0">
                <a:latin typeface="Agency FB" panose="020B0503020202020204" pitchFamily="34" charset="0"/>
              </a:rPr>
              <a:t> – Sort analysis results</a:t>
            </a:r>
            <a:br>
              <a:rPr lang="en-GB" sz="2400" dirty="0">
                <a:latin typeface="Agency FB" panose="020B0503020202020204" pitchFamily="34" charset="0"/>
              </a:rPr>
            </a:br>
            <a:r>
              <a:rPr lang="en-GB" sz="2400" b="1" dirty="0">
                <a:latin typeface="Agency FB" panose="020B0503020202020204" pitchFamily="34" charset="0"/>
              </a:rPr>
              <a:t>SUM / AVG / COUNT</a:t>
            </a:r>
            <a:r>
              <a:rPr lang="en-GB" sz="2400" dirty="0">
                <a:latin typeface="Agency FB" panose="020B0503020202020204" pitchFamily="34" charset="0"/>
              </a:rPr>
              <a:t> – Calculate performance metrics</a:t>
            </a:r>
          </a:p>
          <a:p>
            <a:pPr indent="0">
              <a:buNone/>
            </a:pPr>
            <a:endParaRPr lang="en-GB" sz="240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536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29458D-64DD-91DD-B8AD-6CD57023C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D311B4B-3D11-6055-3100-D9E5157ED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F768A4B-25F6-6EE2-D29A-F5396D43B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1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AF27A0-AB98-E35F-074B-261579FE7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 fontScale="90000"/>
          </a:bodyPr>
          <a:lstStyle/>
          <a:p>
            <a:r>
              <a:rPr lang="en-GB" sz="72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MYSQL QUERIES &amp; ANALYSIS</a:t>
            </a:r>
            <a:endParaRPr lang="en-GB" sz="6800" dirty="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0CB8B-398B-8953-9F46-ED05192E0B65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LargePlainText"/>
                  </p202:designTagLst>
                </p202:designPr>
              </p:ext>
            </p:extLst>
          </p:nvPr>
        </p:nvSpPr>
        <p:spPr>
          <a:xfrm>
            <a:off x="621890" y="2150506"/>
            <a:ext cx="10515600" cy="47074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b="1" dirty="0">
                <a:latin typeface="Agency FB" panose="020B0503020202020204" pitchFamily="34" charset="0"/>
              </a:rPr>
              <a:t>KEY ANALYSIS PERFORMED</a:t>
            </a:r>
          </a:p>
          <a:p>
            <a:pPr marL="0" lvl="0" indent="0">
              <a:buNone/>
            </a:pPr>
            <a:r>
              <a:rPr lang="en-GB" sz="2400" dirty="0">
                <a:latin typeface="Agency FB" panose="020B0503020202020204" pitchFamily="34" charset="0"/>
              </a:rPr>
              <a:t>Total Revenue calculation </a:t>
            </a:r>
          </a:p>
          <a:p>
            <a:pPr marL="0" lvl="0" indent="0">
              <a:buNone/>
            </a:pPr>
            <a:r>
              <a:rPr lang="en-GB" sz="2400" dirty="0">
                <a:latin typeface="Agency FB" panose="020B0503020202020204" pitchFamily="34" charset="0"/>
              </a:rPr>
              <a:t>Revenue by Region </a:t>
            </a:r>
          </a:p>
          <a:p>
            <a:pPr marL="0" lvl="0" indent="0">
              <a:buNone/>
            </a:pPr>
            <a:r>
              <a:rPr lang="en-GB" sz="2400" dirty="0">
                <a:latin typeface="Agency FB" panose="020B0503020202020204" pitchFamily="34" charset="0"/>
              </a:rPr>
              <a:t>Monthly Revenue Analysis </a:t>
            </a:r>
          </a:p>
          <a:p>
            <a:pPr marL="0" lvl="0" indent="0">
              <a:buNone/>
            </a:pPr>
            <a:r>
              <a:rPr lang="en-GB" sz="2400" dirty="0">
                <a:latin typeface="Agency FB" panose="020B0503020202020204" pitchFamily="34" charset="0"/>
              </a:rPr>
              <a:t>Order and Delivery Performance </a:t>
            </a:r>
          </a:p>
          <a:p>
            <a:pPr marL="0" lvl="0" indent="0">
              <a:buNone/>
            </a:pPr>
            <a:r>
              <a:rPr lang="en-GB" sz="2400" dirty="0">
                <a:latin typeface="Agency FB" panose="020B0503020202020204" pitchFamily="34" charset="0"/>
              </a:rPr>
              <a:t>Delayed Order Analysis </a:t>
            </a:r>
          </a:p>
          <a:p>
            <a:pPr marL="0" lvl="0" indent="0">
              <a:buNone/>
            </a:pPr>
            <a:r>
              <a:rPr lang="en-GB" sz="2400" dirty="0">
                <a:latin typeface="Agency FB" panose="020B0503020202020204" pitchFamily="34" charset="0"/>
              </a:rPr>
              <a:t>KPI calculations </a:t>
            </a:r>
          </a:p>
          <a:p>
            <a:pPr marL="0" lvl="0" indent="0">
              <a:buNone/>
            </a:pPr>
            <a:r>
              <a:rPr lang="en-GB" sz="2400" dirty="0">
                <a:latin typeface="Agency FB" panose="020B0503020202020204" pitchFamily="34" charset="0"/>
              </a:rPr>
              <a:t>Customer and Product analysis</a:t>
            </a:r>
          </a:p>
          <a:p>
            <a:pPr indent="0">
              <a:buNone/>
            </a:pPr>
            <a:endParaRPr lang="en-GB" sz="240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588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986243-3375-9580-6606-FF275F69E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F7378BA-7AA4-8989-36D7-5301D62B5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3C1C7BE-2E36-4F42-A503-BE6C241961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1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911C22-2A74-2C98-6918-5B2E92E3E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 fontScale="90000"/>
          </a:bodyPr>
          <a:lstStyle/>
          <a:p>
            <a:r>
              <a:rPr lang="en-GB" sz="72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MYSQL QUERIES &amp; ANALYSIS</a:t>
            </a:r>
            <a:endParaRPr lang="en-GB" sz="6800" dirty="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1A9640-8BB9-C313-8FEA-B612DF36D7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2496014"/>
            <a:ext cx="4421275" cy="33069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67808A-9B66-9E90-4486-AF1A0CA082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7909" y="2478429"/>
            <a:ext cx="3500434" cy="33069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8D83F0F-DA0E-163B-ECC0-D3C10C95BB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8343" y="2525403"/>
            <a:ext cx="4033337" cy="321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9768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B809CF-06EF-64FE-21A0-E7AF5B744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F859937-0A65-1B94-CDE9-3ABD23100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FC9F84F-2955-35A5-4B02-88C892B5C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1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9E21B-8D3A-811F-706F-E6A5179D7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 fontScale="90000"/>
          </a:bodyPr>
          <a:lstStyle/>
          <a:p>
            <a:r>
              <a:rPr lang="en-GB" sz="7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KEY INSIGHTS &amp; CONCLUSION</a:t>
            </a:r>
            <a:endParaRPr lang="en-GB" sz="6800" dirty="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CC32E0-5727-BFA1-B01F-722B1D468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60558"/>
            <a:ext cx="10097729" cy="4928616"/>
          </a:xfrm>
        </p:spPr>
        <p:txBody>
          <a:bodyPr>
            <a:noAutofit/>
          </a:bodyPr>
          <a:lstStyle/>
          <a:p>
            <a:r>
              <a:rPr lang="en-GB" sz="2000" b="1" dirty="0">
                <a:latin typeface="Agency FB" panose="020B0503020202020204" pitchFamily="34" charset="0"/>
              </a:rPr>
              <a:t>KEY INSIGHTS</a:t>
            </a:r>
          </a:p>
          <a:p>
            <a:pPr lvl="0"/>
            <a:r>
              <a:rPr lang="en-GB" sz="2000" dirty="0">
                <a:latin typeface="Agency FB" panose="020B0503020202020204" pitchFamily="34" charset="0"/>
              </a:rPr>
              <a:t>Total revenue generated is approximately </a:t>
            </a:r>
            <a:r>
              <a:rPr lang="en-GB" sz="2000" b="1" dirty="0">
                <a:latin typeface="Agency FB" panose="020B0503020202020204" pitchFamily="34" charset="0"/>
              </a:rPr>
              <a:t>193.99M</a:t>
            </a:r>
            <a:r>
              <a:rPr lang="en-GB" sz="2000" dirty="0">
                <a:latin typeface="Agency FB" panose="020B0503020202020204" pitchFamily="34" charset="0"/>
              </a:rPr>
              <a:t>. </a:t>
            </a:r>
          </a:p>
          <a:p>
            <a:r>
              <a:rPr lang="en-GB" sz="2000" dirty="0">
                <a:latin typeface="Agency FB" panose="020B0503020202020204" pitchFamily="34" charset="0"/>
              </a:rPr>
              <a:t>Gross Margin is </a:t>
            </a:r>
            <a:r>
              <a:rPr lang="en-GB" sz="2000" b="1" dirty="0">
                <a:latin typeface="Agency FB" panose="020B0503020202020204" pitchFamily="34" charset="0"/>
              </a:rPr>
              <a:t>36.17%</a:t>
            </a:r>
            <a:r>
              <a:rPr lang="en-GB" sz="2000" dirty="0">
                <a:latin typeface="Agency FB" panose="020B0503020202020204" pitchFamily="34" charset="0"/>
              </a:rPr>
              <a:t>, indicating the profitability level of the business and On-Time Delivery performance is </a:t>
            </a:r>
            <a:r>
              <a:rPr lang="en-GB" sz="2000" b="1" dirty="0">
                <a:latin typeface="Agency FB" panose="020B0503020202020204" pitchFamily="34" charset="0"/>
              </a:rPr>
              <a:t>66.03%</a:t>
            </a:r>
            <a:r>
              <a:rPr lang="en-GB" sz="2000" dirty="0">
                <a:latin typeface="Agency FB" panose="020B0503020202020204" pitchFamily="34" charset="0"/>
              </a:rPr>
              <a:t>. </a:t>
            </a:r>
          </a:p>
          <a:p>
            <a:pPr lvl="0"/>
            <a:r>
              <a:rPr lang="en-GB" sz="2000" dirty="0">
                <a:latin typeface="Agency FB" panose="020B0503020202020204" pitchFamily="34" charset="0"/>
              </a:rPr>
              <a:t>Fill Rate is </a:t>
            </a:r>
            <a:r>
              <a:rPr lang="en-GB" sz="2000" b="1" dirty="0">
                <a:latin typeface="Agency FB" panose="020B0503020202020204" pitchFamily="34" charset="0"/>
              </a:rPr>
              <a:t>96.88%</a:t>
            </a:r>
            <a:r>
              <a:rPr lang="en-GB" sz="2000" dirty="0">
                <a:latin typeface="Agency FB" panose="020B0503020202020204" pitchFamily="34" charset="0"/>
              </a:rPr>
              <a:t>, indicating strong order </a:t>
            </a:r>
            <a:r>
              <a:rPr lang="en-GB" sz="2000" dirty="0" err="1">
                <a:latin typeface="Agency FB" panose="020B0503020202020204" pitchFamily="34" charset="0"/>
              </a:rPr>
              <a:t>fulfillment</a:t>
            </a:r>
            <a:r>
              <a:rPr lang="en-GB" sz="2000" dirty="0">
                <a:latin typeface="Agency FB" panose="020B0503020202020204" pitchFamily="34" charset="0"/>
              </a:rPr>
              <a:t>. </a:t>
            </a:r>
          </a:p>
          <a:p>
            <a:pPr lvl="0"/>
            <a:r>
              <a:rPr lang="en-GB" sz="2000" dirty="0">
                <a:latin typeface="Agency FB" panose="020B0503020202020204" pitchFamily="34" charset="0"/>
              </a:rPr>
              <a:t>Perfect Order Rate is </a:t>
            </a:r>
            <a:r>
              <a:rPr lang="en-GB" sz="2000" b="1" dirty="0">
                <a:latin typeface="Agency FB" panose="020B0503020202020204" pitchFamily="34" charset="0"/>
              </a:rPr>
              <a:t>55.91%</a:t>
            </a:r>
            <a:r>
              <a:rPr lang="en-GB" sz="2000" dirty="0">
                <a:latin typeface="Agency FB" panose="020B0503020202020204" pitchFamily="34" charset="0"/>
              </a:rPr>
              <a:t>, highlighting opportunities to improve overall order quality. </a:t>
            </a:r>
          </a:p>
          <a:p>
            <a:pPr lvl="0"/>
            <a:r>
              <a:rPr lang="en-GB" sz="2000" dirty="0">
                <a:latin typeface="Agency FB" panose="020B0503020202020204" pitchFamily="34" charset="0"/>
              </a:rPr>
              <a:t>Revenue varies significantly across different customer regions. </a:t>
            </a:r>
          </a:p>
          <a:p>
            <a:pPr lvl="0"/>
            <a:r>
              <a:rPr lang="en-GB" sz="2000" dirty="0">
                <a:latin typeface="Agency FB" panose="020B0503020202020204" pitchFamily="34" charset="0"/>
              </a:rPr>
              <a:t>Monthly analysis reveals fluctuations in revenue throughout the year. </a:t>
            </a:r>
          </a:p>
          <a:p>
            <a:pPr lvl="0"/>
            <a:r>
              <a:rPr lang="en-GB" sz="2000" dirty="0">
                <a:latin typeface="Agency FB" panose="020B0503020202020204" pitchFamily="34" charset="0"/>
              </a:rPr>
              <a:t>Customer-country analysis helps identify important geographical revenue contributors. </a:t>
            </a:r>
          </a:p>
          <a:p>
            <a:r>
              <a:rPr lang="en-GB" sz="2000" b="1" dirty="0">
                <a:latin typeface="Agency FB" panose="020B0503020202020204" pitchFamily="34" charset="0"/>
              </a:rPr>
              <a:t>CONCLUSION - </a:t>
            </a:r>
            <a:r>
              <a:rPr lang="en-GB" sz="2000" dirty="0">
                <a:latin typeface="Agency FB" panose="020B0503020202020204" pitchFamily="34" charset="0"/>
              </a:rPr>
              <a:t>The project demonstrates how data analytics can transform raw supply-chain data into meaningful business insights. By combining </a:t>
            </a:r>
            <a:r>
              <a:rPr lang="en-GB" sz="2000" b="1" dirty="0">
                <a:latin typeface="Agency FB" panose="020B0503020202020204" pitchFamily="34" charset="0"/>
              </a:rPr>
              <a:t>Excel, MySQL, Tableau and Power BI</a:t>
            </a:r>
            <a:r>
              <a:rPr lang="en-GB" sz="2000" dirty="0">
                <a:latin typeface="Agency FB" panose="020B0503020202020204" pitchFamily="34" charset="0"/>
              </a:rPr>
              <a:t>, the project provides a complete workflow for data preparation, KPI analysis, visualization and interactive reporting.</a:t>
            </a:r>
          </a:p>
          <a:p>
            <a:pPr marL="0" indent="0">
              <a:buNone/>
            </a:pPr>
            <a:endParaRPr lang="en-GB" sz="2000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917025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2">
      <a:majorFont>
        <a:latin typeface="The Serif Hand Black"/>
        <a:ea typeface=""/>
        <a:cs typeface=""/>
      </a:majorFont>
      <a:minorFont>
        <a:latin typeface="The Hand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985</Words>
  <Application>Microsoft Office PowerPoint</Application>
  <PresentationFormat>Widescreen</PresentationFormat>
  <Paragraphs>113</Paragraphs>
  <Slides>17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ADLaM Display</vt:lpstr>
      <vt:lpstr>Agency FB</vt:lpstr>
      <vt:lpstr>Aharoni</vt:lpstr>
      <vt:lpstr>Aptos</vt:lpstr>
      <vt:lpstr>Arial</vt:lpstr>
      <vt:lpstr>The Hand Bold</vt:lpstr>
      <vt:lpstr>The Serif Hand Black</vt:lpstr>
      <vt:lpstr>SketchyVTI</vt:lpstr>
      <vt:lpstr>SUPPLY CHAIN Project [ DATA ANALYTICS ]</vt:lpstr>
      <vt:lpstr>CONTENTS</vt:lpstr>
      <vt:lpstr>INTRODUCTION &amp; OBJECTIVES</vt:lpstr>
      <vt:lpstr>TOOLS used</vt:lpstr>
      <vt:lpstr>workflow</vt:lpstr>
      <vt:lpstr>20 KPIs: </vt:lpstr>
      <vt:lpstr>PowerPoint Presentation</vt:lpstr>
      <vt:lpstr>DASHBOARD VISUALIZATION</vt:lpstr>
      <vt:lpstr>EXCEL DASHBOARDS</vt:lpstr>
      <vt:lpstr>DASHBOARD VISUALIZATION</vt:lpstr>
      <vt:lpstr>TABLEAU DASHBOARDS</vt:lpstr>
      <vt:lpstr>DASHBOARD VISUALIZATION</vt:lpstr>
      <vt:lpstr>POWER BI DASHBOARDS</vt:lpstr>
      <vt:lpstr>MYSQL QUERIES &amp; ANALYSIS</vt:lpstr>
      <vt:lpstr>MYSQL QUERIES &amp; ANALYSIS</vt:lpstr>
      <vt:lpstr>MYSQL QUERIES &amp; ANALYSIS</vt:lpstr>
      <vt:lpstr>KEY INSIGHTS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putturu deepak</dc:creator>
  <cp:lastModifiedBy>putturu deepak</cp:lastModifiedBy>
  <cp:revision>2</cp:revision>
  <dcterms:created xsi:type="dcterms:W3CDTF">2026-08-19T11:00:50Z</dcterms:created>
  <dcterms:modified xsi:type="dcterms:W3CDTF">2026-08-19T13:56:38Z</dcterms:modified>
</cp:coreProperties>
</file>